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94" r:id="rId7"/>
    <p:sldId id="259" r:id="rId8"/>
    <p:sldId id="296" r:id="rId9"/>
    <p:sldId id="262" r:id="rId10"/>
    <p:sldId id="299" r:id="rId11"/>
    <p:sldId id="298" r:id="rId12"/>
    <p:sldId id="263" r:id="rId13"/>
    <p:sldId id="264" r:id="rId14"/>
    <p:sldId id="265" r:id="rId15"/>
    <p:sldId id="295"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3" r:id="rId42"/>
  </p:sldIdLst>
  <p:sldSz cx="9144000" cy="5143500"/>
  <p:notesSz cx="6858000" cy="9144000"/>
  <p:embeddedFontLst>
    <p:embeddedFont>
      <p:font typeface="Raleway"/>
      <p:regular r:id="rId46"/>
    </p:embeddedFont>
    <p:embeddedFont>
      <p:font typeface="Lato" panose="020F0502020204030203"/>
      <p:regular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41" userDrawn="1">
          <p15:clr>
            <a:srgbClr val="747775"/>
          </p15:clr>
        </p15:guide>
        <p15:guide id="2" pos="2881"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85B4C50-FAD5-47BA-BD73-6CF19DB5209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1"/>
        <p:guide pos="2881"/>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7" Type="http://schemas.openxmlformats.org/officeDocument/2006/relationships/font" Target="fonts/font2.fntdata"/><Relationship Id="rId46" Type="http://schemas.openxmlformats.org/officeDocument/2006/relationships/font" Target="fonts/font1.fntdata"/><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 name="Shape 82"/>
        <p:cNvGrpSpPr/>
        <p:nvPr/>
      </p:nvGrpSpPr>
      <p:grpSpPr>
        <a:xfrm>
          <a:off x="0" y="0"/>
          <a:ext cx="0" cy="0"/>
          <a:chOff x="0" y="0"/>
          <a:chExt cx="0" cy="0"/>
        </a:xfrm>
      </p:grpSpPr>
      <p:sp>
        <p:nvSpPr>
          <p:cNvPr id="83" name="Google Shape;83;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g3dc7d18f07c_0_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dc7d18f07c_0_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g3dc7d18f07c_0_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dc7d18f07c_0_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g3dc7d18f07c_0_2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dc7d18f07c_0_2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 name="Shape 147"/>
        <p:cNvGrpSpPr/>
        <p:nvPr/>
      </p:nvGrpSpPr>
      <p:grpSpPr>
        <a:xfrm>
          <a:off x="0" y="0"/>
          <a:ext cx="0" cy="0"/>
          <a:chOff x="0" y="0"/>
          <a:chExt cx="0" cy="0"/>
        </a:xfrm>
      </p:grpSpPr>
      <p:sp>
        <p:nvSpPr>
          <p:cNvPr id="148" name="Google Shape;148;g3dc7d18f07c_0_3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dc7d18f07c_0_3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 name="Shape 166"/>
        <p:cNvGrpSpPr/>
        <p:nvPr/>
      </p:nvGrpSpPr>
      <p:grpSpPr>
        <a:xfrm>
          <a:off x="0" y="0"/>
          <a:ext cx="0" cy="0"/>
          <a:chOff x="0" y="0"/>
          <a:chExt cx="0" cy="0"/>
        </a:xfrm>
      </p:grpSpPr>
      <p:sp>
        <p:nvSpPr>
          <p:cNvPr id="167" name="Google Shape;167;g3dc7d18f07c_0_3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dc7d18f07c_0_3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g3d2df5ef171_0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d2df5ef171_0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9" name="Shape 239"/>
        <p:cNvGrpSpPr/>
        <p:nvPr/>
      </p:nvGrpSpPr>
      <p:grpSpPr>
        <a:xfrm>
          <a:off x="0" y="0"/>
          <a:ext cx="0" cy="0"/>
          <a:chOff x="0" y="0"/>
          <a:chExt cx="0" cy="0"/>
        </a:xfrm>
      </p:grpSpPr>
      <p:sp>
        <p:nvSpPr>
          <p:cNvPr id="240" name="Google Shape;240;g3dc8904c1a5_1_4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dc8904c1a5_1_4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g3dc7d18f07c_0_8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dc7d18f07c_0_8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2" name="Shape 192"/>
        <p:cNvGrpSpPr/>
        <p:nvPr/>
      </p:nvGrpSpPr>
      <p:grpSpPr>
        <a:xfrm>
          <a:off x="0" y="0"/>
          <a:ext cx="0" cy="0"/>
          <a:chOff x="0" y="0"/>
          <a:chExt cx="0" cy="0"/>
        </a:xfrm>
      </p:grpSpPr>
      <p:sp>
        <p:nvSpPr>
          <p:cNvPr id="193" name="Google Shape;193;g3d2df5ef171_0_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d2df5ef171_0_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9" name="Shape 199"/>
        <p:cNvGrpSpPr/>
        <p:nvPr/>
      </p:nvGrpSpPr>
      <p:grpSpPr>
        <a:xfrm>
          <a:off x="0" y="0"/>
          <a:ext cx="0" cy="0"/>
          <a:chOff x="0" y="0"/>
          <a:chExt cx="0" cy="0"/>
        </a:xfrm>
      </p:grpSpPr>
      <p:sp>
        <p:nvSpPr>
          <p:cNvPr id="200" name="Google Shape;200;g3d2df5ef171_0_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d2df5ef171_0_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9" name="Shape 239"/>
        <p:cNvGrpSpPr/>
        <p:nvPr/>
      </p:nvGrpSpPr>
      <p:grpSpPr>
        <a:xfrm>
          <a:off x="0" y="0"/>
          <a:ext cx="0" cy="0"/>
          <a:chOff x="0" y="0"/>
          <a:chExt cx="0" cy="0"/>
        </a:xfrm>
      </p:grpSpPr>
      <p:sp>
        <p:nvSpPr>
          <p:cNvPr id="240" name="Google Shape;240;g3dc8904c1a5_1_4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dc8904c1a5_1_4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8" name="Shape 268"/>
        <p:cNvGrpSpPr/>
        <p:nvPr/>
      </p:nvGrpSpPr>
      <p:grpSpPr>
        <a:xfrm>
          <a:off x="0" y="0"/>
          <a:ext cx="0" cy="0"/>
          <a:chOff x="0" y="0"/>
          <a:chExt cx="0" cy="0"/>
        </a:xfrm>
      </p:grpSpPr>
      <p:sp>
        <p:nvSpPr>
          <p:cNvPr id="269" name="Google Shape;269;g3dc8904c1a5_1_7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dc8904c1a5_1_7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7" name="Shape 297"/>
        <p:cNvGrpSpPr/>
        <p:nvPr/>
      </p:nvGrpSpPr>
      <p:grpSpPr>
        <a:xfrm>
          <a:off x="0" y="0"/>
          <a:ext cx="0" cy="0"/>
          <a:chOff x="0" y="0"/>
          <a:chExt cx="0" cy="0"/>
        </a:xfrm>
      </p:grpSpPr>
      <p:sp>
        <p:nvSpPr>
          <p:cNvPr id="298" name="Google Shape;298;g3dc8a2316b9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dc8a2316b9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6" name="Shape 326"/>
        <p:cNvGrpSpPr/>
        <p:nvPr/>
      </p:nvGrpSpPr>
      <p:grpSpPr>
        <a:xfrm>
          <a:off x="0" y="0"/>
          <a:ext cx="0" cy="0"/>
          <a:chOff x="0" y="0"/>
          <a:chExt cx="0" cy="0"/>
        </a:xfrm>
      </p:grpSpPr>
      <p:sp>
        <p:nvSpPr>
          <p:cNvPr id="327" name="Google Shape;327;g3dc8a2316b9_0_2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dc8a2316b9_0_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5" name="Shape 355"/>
        <p:cNvGrpSpPr/>
        <p:nvPr/>
      </p:nvGrpSpPr>
      <p:grpSpPr>
        <a:xfrm>
          <a:off x="0" y="0"/>
          <a:ext cx="0" cy="0"/>
          <a:chOff x="0" y="0"/>
          <a:chExt cx="0" cy="0"/>
        </a:xfrm>
      </p:grpSpPr>
      <p:sp>
        <p:nvSpPr>
          <p:cNvPr id="356" name="Google Shape;356;g3d2ed1b5722_0_3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d2ed1b5722_0_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8" name="Shape 388"/>
        <p:cNvGrpSpPr/>
        <p:nvPr/>
      </p:nvGrpSpPr>
      <p:grpSpPr>
        <a:xfrm>
          <a:off x="0" y="0"/>
          <a:ext cx="0" cy="0"/>
          <a:chOff x="0" y="0"/>
          <a:chExt cx="0" cy="0"/>
        </a:xfrm>
      </p:grpSpPr>
      <p:sp>
        <p:nvSpPr>
          <p:cNvPr id="389" name="Google Shape;389;g3dc8a2316b9_0_5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3dc8a2316b9_0_5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7" name="Shape 417"/>
        <p:cNvGrpSpPr/>
        <p:nvPr/>
      </p:nvGrpSpPr>
      <p:grpSpPr>
        <a:xfrm>
          <a:off x="0" y="0"/>
          <a:ext cx="0" cy="0"/>
          <a:chOff x="0" y="0"/>
          <a:chExt cx="0" cy="0"/>
        </a:xfrm>
      </p:grpSpPr>
      <p:sp>
        <p:nvSpPr>
          <p:cNvPr id="418" name="Google Shape;418;g3d2ed1b5722_0_6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3d2ed1b5722_0_6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5" name="Shape 445"/>
        <p:cNvGrpSpPr/>
        <p:nvPr/>
      </p:nvGrpSpPr>
      <p:grpSpPr>
        <a:xfrm>
          <a:off x="0" y="0"/>
          <a:ext cx="0" cy="0"/>
          <a:chOff x="0" y="0"/>
          <a:chExt cx="0" cy="0"/>
        </a:xfrm>
      </p:grpSpPr>
      <p:sp>
        <p:nvSpPr>
          <p:cNvPr id="446" name="Google Shape;446;g3d2ed1b5722_0_9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3d2ed1b5722_0_9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3" name="Shape 473"/>
        <p:cNvGrpSpPr/>
        <p:nvPr/>
      </p:nvGrpSpPr>
      <p:grpSpPr>
        <a:xfrm>
          <a:off x="0" y="0"/>
          <a:ext cx="0" cy="0"/>
          <a:chOff x="0" y="0"/>
          <a:chExt cx="0" cy="0"/>
        </a:xfrm>
      </p:grpSpPr>
      <p:sp>
        <p:nvSpPr>
          <p:cNvPr id="474" name="Google Shape;474;g3d2ed1b5722_0_11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3d2ed1b5722_0_1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0" name="Shape 500"/>
        <p:cNvGrpSpPr/>
        <p:nvPr/>
      </p:nvGrpSpPr>
      <p:grpSpPr>
        <a:xfrm>
          <a:off x="0" y="0"/>
          <a:ext cx="0" cy="0"/>
          <a:chOff x="0" y="0"/>
          <a:chExt cx="0" cy="0"/>
        </a:xfrm>
      </p:grpSpPr>
      <p:sp>
        <p:nvSpPr>
          <p:cNvPr id="501" name="Google Shape;501;g3d2ed1b5722_0_14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3d2ed1b5722_0_1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7" name="Shape 527"/>
        <p:cNvGrpSpPr/>
        <p:nvPr/>
      </p:nvGrpSpPr>
      <p:grpSpPr>
        <a:xfrm>
          <a:off x="0" y="0"/>
          <a:ext cx="0" cy="0"/>
          <a:chOff x="0" y="0"/>
          <a:chExt cx="0" cy="0"/>
        </a:xfrm>
      </p:grpSpPr>
      <p:sp>
        <p:nvSpPr>
          <p:cNvPr id="528" name="Google Shape;528;g3d2ed1b5722_0_16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3d2ed1b5722_0_16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3" name="Shape 553"/>
        <p:cNvGrpSpPr/>
        <p:nvPr/>
      </p:nvGrpSpPr>
      <p:grpSpPr>
        <a:xfrm>
          <a:off x="0" y="0"/>
          <a:ext cx="0" cy="0"/>
          <a:chOff x="0" y="0"/>
          <a:chExt cx="0" cy="0"/>
        </a:xfrm>
      </p:grpSpPr>
      <p:sp>
        <p:nvSpPr>
          <p:cNvPr id="554" name="Google Shape;554;g3d2ed1b5722_0_19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3d2ed1b5722_0_19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9" name="Shape 579"/>
        <p:cNvGrpSpPr/>
        <p:nvPr/>
      </p:nvGrpSpPr>
      <p:grpSpPr>
        <a:xfrm>
          <a:off x="0" y="0"/>
          <a:ext cx="0" cy="0"/>
          <a:chOff x="0" y="0"/>
          <a:chExt cx="0" cy="0"/>
        </a:xfrm>
      </p:grpSpPr>
      <p:sp>
        <p:nvSpPr>
          <p:cNvPr id="580" name="Google Shape;580;g3d2ed1b5722_0_21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3d2ed1b5722_0_2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4" name="Shape 604"/>
        <p:cNvGrpSpPr/>
        <p:nvPr/>
      </p:nvGrpSpPr>
      <p:grpSpPr>
        <a:xfrm>
          <a:off x="0" y="0"/>
          <a:ext cx="0" cy="0"/>
          <a:chOff x="0" y="0"/>
          <a:chExt cx="0" cy="0"/>
        </a:xfrm>
      </p:grpSpPr>
      <p:sp>
        <p:nvSpPr>
          <p:cNvPr id="605" name="Google Shape;605;g3d2ed1b5722_0_24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3d2ed1b5722_0_24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9" name="Shape 629"/>
        <p:cNvGrpSpPr/>
        <p:nvPr/>
      </p:nvGrpSpPr>
      <p:grpSpPr>
        <a:xfrm>
          <a:off x="0" y="0"/>
          <a:ext cx="0" cy="0"/>
          <a:chOff x="0" y="0"/>
          <a:chExt cx="0" cy="0"/>
        </a:xfrm>
      </p:grpSpPr>
      <p:sp>
        <p:nvSpPr>
          <p:cNvPr id="630" name="Google Shape;630;g3d2ed1b5722_0_26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d2ed1b5722_0_26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3" name="Shape 653"/>
        <p:cNvGrpSpPr/>
        <p:nvPr/>
      </p:nvGrpSpPr>
      <p:grpSpPr>
        <a:xfrm>
          <a:off x="0" y="0"/>
          <a:ext cx="0" cy="0"/>
          <a:chOff x="0" y="0"/>
          <a:chExt cx="0" cy="0"/>
        </a:xfrm>
      </p:grpSpPr>
      <p:sp>
        <p:nvSpPr>
          <p:cNvPr id="654" name="Google Shape;654;g3d2ed1b5722_0_33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3d2ed1b5722_0_33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7" name="Shape 677"/>
        <p:cNvGrpSpPr/>
        <p:nvPr/>
      </p:nvGrpSpPr>
      <p:grpSpPr>
        <a:xfrm>
          <a:off x="0" y="0"/>
          <a:ext cx="0" cy="0"/>
          <a:chOff x="0" y="0"/>
          <a:chExt cx="0" cy="0"/>
        </a:xfrm>
      </p:grpSpPr>
      <p:sp>
        <p:nvSpPr>
          <p:cNvPr id="678" name="Google Shape;678;g3d2ed1b5722_0_36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9" name="Google Shape;679;g3d2ed1b5722_0_36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1" name="Shape 701"/>
        <p:cNvGrpSpPr/>
        <p:nvPr/>
      </p:nvGrpSpPr>
      <p:grpSpPr>
        <a:xfrm>
          <a:off x="0" y="0"/>
          <a:ext cx="0" cy="0"/>
          <a:chOff x="0" y="0"/>
          <a:chExt cx="0" cy="0"/>
        </a:xfrm>
      </p:grpSpPr>
      <p:sp>
        <p:nvSpPr>
          <p:cNvPr id="702" name="Google Shape;702;g3d2ed1b5722_0_43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3" name="Google Shape;703;g3d2ed1b5722_0_43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0" name="Shape 730"/>
        <p:cNvGrpSpPr/>
        <p:nvPr/>
      </p:nvGrpSpPr>
      <p:grpSpPr>
        <a:xfrm>
          <a:off x="0" y="0"/>
          <a:ext cx="0" cy="0"/>
          <a:chOff x="0" y="0"/>
          <a:chExt cx="0" cy="0"/>
        </a:xfrm>
      </p:grpSpPr>
      <p:sp>
        <p:nvSpPr>
          <p:cNvPr id="731" name="Google Shape;731;g3d2ed1b5722_0_46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3d2ed1b5722_0_46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7" name="Shape 737"/>
        <p:cNvGrpSpPr/>
        <p:nvPr/>
      </p:nvGrpSpPr>
      <p:grpSpPr>
        <a:xfrm>
          <a:off x="0" y="0"/>
          <a:ext cx="0" cy="0"/>
          <a:chOff x="0" y="0"/>
          <a:chExt cx="0" cy="0"/>
        </a:xfrm>
      </p:grpSpPr>
      <p:sp>
        <p:nvSpPr>
          <p:cNvPr id="738" name="Google Shape;738;g3d31ad4ca1e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3d31ad4ca1e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0" name="Shape 760"/>
        <p:cNvGrpSpPr/>
        <p:nvPr/>
      </p:nvGrpSpPr>
      <p:grpSpPr>
        <a:xfrm>
          <a:off x="0" y="0"/>
          <a:ext cx="0" cy="0"/>
          <a:chOff x="0" y="0"/>
          <a:chExt cx="0" cy="0"/>
        </a:xfrm>
      </p:grpSpPr>
      <p:sp>
        <p:nvSpPr>
          <p:cNvPr id="761" name="Google Shape;761;g3d31ad4ca1e_0_3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2" name="Google Shape;762;g3d31ad4ca1e_0_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8" name="Shape 768"/>
        <p:cNvGrpSpPr/>
        <p:nvPr/>
      </p:nvGrpSpPr>
      <p:grpSpPr>
        <a:xfrm>
          <a:off x="0" y="0"/>
          <a:ext cx="0" cy="0"/>
          <a:chOff x="0" y="0"/>
          <a:chExt cx="0" cy="0"/>
        </a:xfrm>
      </p:grpSpPr>
      <p:sp>
        <p:nvSpPr>
          <p:cNvPr id="769" name="Google Shape;769;g3d31ad4ca1e_0_4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3d31ad4ca1e_0_4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6" name="Shape 776"/>
        <p:cNvGrpSpPr/>
        <p:nvPr/>
      </p:nvGrpSpPr>
      <p:grpSpPr>
        <a:xfrm>
          <a:off x="0" y="0"/>
          <a:ext cx="0" cy="0"/>
          <a:chOff x="0" y="0"/>
          <a:chExt cx="0" cy="0"/>
        </a:xfrm>
      </p:grpSpPr>
      <p:sp>
        <p:nvSpPr>
          <p:cNvPr id="777" name="Google Shape;777;g3d31ad4ca1e_0_5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8" name="Google Shape;778;g3d31ad4ca1e_0_5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4" name="Shape 784"/>
        <p:cNvGrpSpPr/>
        <p:nvPr/>
      </p:nvGrpSpPr>
      <p:grpSpPr>
        <a:xfrm>
          <a:off x="0" y="0"/>
          <a:ext cx="0" cy="0"/>
          <a:chOff x="0" y="0"/>
          <a:chExt cx="0" cy="0"/>
        </a:xfrm>
      </p:grpSpPr>
      <p:sp>
        <p:nvSpPr>
          <p:cNvPr id="785" name="Google Shape;785;g3d31ad4ca1e_0_7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6" name="Google Shape;786;g3d31ad4ca1e_0_7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2" name="Shape 792"/>
        <p:cNvGrpSpPr/>
        <p:nvPr/>
      </p:nvGrpSpPr>
      <p:grpSpPr>
        <a:xfrm>
          <a:off x="0" y="0"/>
          <a:ext cx="0" cy="0"/>
          <a:chOff x="0" y="0"/>
          <a:chExt cx="0" cy="0"/>
        </a:xfrm>
      </p:grpSpPr>
      <p:sp>
        <p:nvSpPr>
          <p:cNvPr id="793" name="Google Shape;793;g3d31ad4ca1e_0_8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3d31ad4ca1e_0_8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0" name="Shape 730"/>
        <p:cNvGrpSpPr/>
        <p:nvPr/>
      </p:nvGrpSpPr>
      <p:grpSpPr>
        <a:xfrm>
          <a:off x="0" y="0"/>
          <a:ext cx="0" cy="0"/>
          <a:chOff x="0" y="0"/>
          <a:chExt cx="0" cy="0"/>
        </a:xfrm>
      </p:grpSpPr>
      <p:sp>
        <p:nvSpPr>
          <p:cNvPr id="731" name="Google Shape;731;g3d2ed1b5722_0_46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3d2ed1b5722_0_46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chemeClr val="lt2"/>
        </a:solidFill>
        <a:effectLst/>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4" name="Google Shape;14;p2"/>
          <p:cNvSpPr txBox="1"/>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chemeClr val="dk1"/>
        </a:solidFill>
        <a:effectLst/>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1" name="Google Shape;21;p3"/>
          <p:cNvSpPr txBox="1"/>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8" name="Google Shape;28;p4"/>
          <p:cNvSpPr txBox="1"/>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30" name="Google Shape;30;p4"/>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6" name="Google Shape;36;p5"/>
          <p:cNvSpPr txBox="1"/>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38" name="Google Shape;38;p5"/>
          <p:cNvSpPr txBox="1"/>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39" name="Google Shape;39;p5"/>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5" name="Google Shape;45;p6"/>
          <p:cNvSpPr txBox="1"/>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2" name="Google Shape;52;p7"/>
          <p:cNvSpPr txBox="1"/>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54" name="Google Shape;54;p7"/>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9" name="Google Shape;59;p8"/>
          <p:cNvSpPr txBox="1"/>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66" name="Google Shape;66;p9"/>
          <p:cNvSpPr txBox="1"/>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69" name="Google Shape;69;p9"/>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70" name="Shape 70"/>
        <p:cNvGrpSpPr/>
        <p:nvPr/>
      </p:nvGrpSpPr>
      <p:grpSpPr>
        <a:xfrm>
          <a:off x="0" y="0"/>
          <a:ext cx="0" cy="0"/>
          <a:chOff x="0" y="0"/>
          <a:chExt cx="0" cy="0"/>
        </a:xfrm>
      </p:grpSpPr>
      <p:sp>
        <p:nvSpPr>
          <p:cNvPr id="71" name="Google Shape;71;p10"/>
          <p:cNvSpPr txBox="1"/>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p:txBody>
      </p:sp>
      <p:sp>
        <p:nvSpPr>
          <p:cNvPr id="72" name="Google Shape;72;p10"/>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77" name="Google Shape;77;p11"/>
          <p:cNvSpPr txBox="1"/>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80" name="Shape 80"/>
        <p:cNvGrpSpPr/>
        <p:nvPr/>
      </p:nvGrpSpPr>
      <p:grpSpPr>
        <a:xfrm>
          <a:off x="0" y="0"/>
          <a:ext cx="0" cy="0"/>
          <a:chOff x="0" y="0"/>
          <a:chExt cx="0" cy="0"/>
        </a:xfrm>
      </p:grpSpPr>
      <p:sp>
        <p:nvSpPr>
          <p:cNvPr id="81" name="Google Shape;81;p12"/>
          <p:cNvSpPr txBox="1"/>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panose="020F0502020204030203"/>
              <a:buChar char="●"/>
              <a:defRPr sz="1300">
                <a:solidFill>
                  <a:schemeClr val="accent1"/>
                </a:solidFill>
                <a:latin typeface="Lato" panose="020F0502020204030203"/>
                <a:ea typeface="Lato" panose="020F0502020204030203"/>
                <a:cs typeface="Lato" panose="020F0502020204030203"/>
                <a:sym typeface="Lato" panose="020F0502020204030203"/>
              </a:defRPr>
            </a:lvl1pPr>
            <a:lvl2pPr marL="914400" lvl="1"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2pPr>
            <a:lvl3pPr marL="1371600" lvl="2"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3pPr>
            <a:lvl4pPr marL="1828800" lvl="3"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4pPr>
            <a:lvl5pPr marL="2286000" lvl="4"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5pPr>
            <a:lvl6pPr marL="2743200" lvl="5"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6pPr>
            <a:lvl7pPr marL="3200400" lvl="6"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7pPr>
            <a:lvl8pPr marL="3657600" lvl="7"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8pPr>
            <a:lvl9pPr marL="4114800" lvl="8"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9pPr>
          </a:lstStyle>
          <a:p/>
        </p:txBody>
      </p:sp>
      <p:sp>
        <p:nvSpPr>
          <p:cNvPr id="8" name="Google Shape;8;p1"/>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panose="020F0502020204030203"/>
                <a:ea typeface="Lato" panose="020F0502020204030203"/>
                <a:cs typeface="Lato" panose="020F0502020204030203"/>
                <a:sym typeface="Lato" panose="020F0502020204030203"/>
              </a:defRPr>
            </a:lvl1pPr>
            <a:lvl2pPr lvl="1" algn="r">
              <a:buNone/>
              <a:defRPr sz="1000">
                <a:solidFill>
                  <a:schemeClr val="accent1"/>
                </a:solidFill>
                <a:latin typeface="Lato" panose="020F0502020204030203"/>
                <a:ea typeface="Lato" panose="020F0502020204030203"/>
                <a:cs typeface="Lato" panose="020F0502020204030203"/>
                <a:sym typeface="Lato" panose="020F0502020204030203"/>
              </a:defRPr>
            </a:lvl2pPr>
            <a:lvl3pPr lvl="2" algn="r">
              <a:buNone/>
              <a:defRPr sz="1000">
                <a:solidFill>
                  <a:schemeClr val="accent1"/>
                </a:solidFill>
                <a:latin typeface="Lato" panose="020F0502020204030203"/>
                <a:ea typeface="Lato" panose="020F0502020204030203"/>
                <a:cs typeface="Lato" panose="020F0502020204030203"/>
                <a:sym typeface="Lato" panose="020F0502020204030203"/>
              </a:defRPr>
            </a:lvl3pPr>
            <a:lvl4pPr lvl="3" algn="r">
              <a:buNone/>
              <a:defRPr sz="1000">
                <a:solidFill>
                  <a:schemeClr val="accent1"/>
                </a:solidFill>
                <a:latin typeface="Lato" panose="020F0502020204030203"/>
                <a:ea typeface="Lato" panose="020F0502020204030203"/>
                <a:cs typeface="Lato" panose="020F0502020204030203"/>
                <a:sym typeface="Lato" panose="020F0502020204030203"/>
              </a:defRPr>
            </a:lvl4pPr>
            <a:lvl5pPr lvl="4" algn="r">
              <a:buNone/>
              <a:defRPr sz="1000">
                <a:solidFill>
                  <a:schemeClr val="accent1"/>
                </a:solidFill>
                <a:latin typeface="Lato" panose="020F0502020204030203"/>
                <a:ea typeface="Lato" panose="020F0502020204030203"/>
                <a:cs typeface="Lato" panose="020F0502020204030203"/>
                <a:sym typeface="Lato" panose="020F0502020204030203"/>
              </a:defRPr>
            </a:lvl5pPr>
            <a:lvl6pPr lvl="5" algn="r">
              <a:buNone/>
              <a:defRPr sz="1000">
                <a:solidFill>
                  <a:schemeClr val="accent1"/>
                </a:solidFill>
                <a:latin typeface="Lato" panose="020F0502020204030203"/>
                <a:ea typeface="Lato" panose="020F0502020204030203"/>
                <a:cs typeface="Lato" panose="020F0502020204030203"/>
                <a:sym typeface="Lato" panose="020F0502020204030203"/>
              </a:defRPr>
            </a:lvl6pPr>
            <a:lvl7pPr lvl="6" algn="r">
              <a:buNone/>
              <a:defRPr sz="1000">
                <a:solidFill>
                  <a:schemeClr val="accent1"/>
                </a:solidFill>
                <a:latin typeface="Lato" panose="020F0502020204030203"/>
                <a:ea typeface="Lato" panose="020F0502020204030203"/>
                <a:cs typeface="Lato" panose="020F0502020204030203"/>
                <a:sym typeface="Lato" panose="020F0502020204030203"/>
              </a:defRPr>
            </a:lvl7pPr>
            <a:lvl8pPr lvl="7" algn="r">
              <a:buNone/>
              <a:defRPr sz="1000">
                <a:solidFill>
                  <a:schemeClr val="accent1"/>
                </a:solidFill>
                <a:latin typeface="Lato" panose="020F0502020204030203"/>
                <a:ea typeface="Lato" panose="020F0502020204030203"/>
                <a:cs typeface="Lato" panose="020F0502020204030203"/>
                <a:sym typeface="Lato" panose="020F0502020204030203"/>
              </a:defRPr>
            </a:lvl8pPr>
            <a:lvl9pPr lvl="8" algn="r">
              <a:buNone/>
              <a:defRPr sz="1000">
                <a:solidFill>
                  <a:schemeClr val="accent1"/>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3.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5" name="Shape 85"/>
        <p:cNvGrpSpPr/>
        <p:nvPr/>
      </p:nvGrpSpPr>
      <p:grpSpPr>
        <a:xfrm>
          <a:off x="0" y="0"/>
          <a:ext cx="0" cy="0"/>
          <a:chOff x="0" y="0"/>
          <a:chExt cx="0" cy="0"/>
        </a:xfrm>
      </p:grpSpPr>
      <p:sp>
        <p:nvSpPr>
          <p:cNvPr id="86" name="Google Shape;86;p13"/>
          <p:cNvSpPr txBox="1"/>
          <p:nvPr>
            <p:ph type="ctrTitle"/>
          </p:nvPr>
        </p:nvSpPr>
        <p:spPr>
          <a:xfrm>
            <a:off x="1197075" y="2303575"/>
            <a:ext cx="7053300" cy="71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4080"/>
              <a:t>Heap and Heap algorithms</a:t>
            </a:r>
            <a:endParaRPr sz="4080"/>
          </a:p>
        </p:txBody>
      </p:sp>
      <p:sp>
        <p:nvSpPr>
          <p:cNvPr id="87" name="Google Shape;87;p13"/>
          <p:cNvSpPr txBox="1"/>
          <p:nvPr>
            <p:ph type="subTitle" idx="1"/>
          </p:nvPr>
        </p:nvSpPr>
        <p:spPr>
          <a:xfrm>
            <a:off x="67650" y="525050"/>
            <a:ext cx="2278500" cy="4236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zh-CN" sz="2000"/>
              <a:t>COMP 2090SEF</a:t>
            </a:r>
            <a:endParaRPr sz="2000"/>
          </a:p>
        </p:txBody>
      </p:sp>
      <p:sp>
        <p:nvSpPr>
          <p:cNvPr id="88" name="Google Shape;88;p13"/>
          <p:cNvSpPr txBox="1"/>
          <p:nvPr/>
        </p:nvSpPr>
        <p:spPr>
          <a:xfrm>
            <a:off x="5876475" y="4288800"/>
            <a:ext cx="3111900" cy="42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a:solidFill>
                  <a:schemeClr val="accent1"/>
                </a:solidFill>
                <a:latin typeface="Lato" panose="020F0502020204030203"/>
                <a:ea typeface="Lato" panose="020F0502020204030203"/>
                <a:cs typeface="Lato" panose="020F0502020204030203"/>
                <a:sym typeface="Lato" panose="020F0502020204030203"/>
              </a:rPr>
              <a:t>Lecturer:</a:t>
            </a:r>
            <a:r>
              <a:rPr lang="en-US" altLang="zh-CN" sz="1600">
                <a:solidFill>
                  <a:schemeClr val="accent1"/>
                </a:solidFill>
                <a:latin typeface="Lato" panose="020F0502020204030203"/>
                <a:ea typeface="Lato" panose="020F0502020204030203"/>
                <a:cs typeface="Lato" panose="020F0502020204030203"/>
                <a:sym typeface="Lato" panose="020F0502020204030203"/>
              </a:rPr>
              <a:t> ZHU Jinze(14031061)</a:t>
            </a:r>
            <a:r>
              <a:rPr lang="zh-CN" sz="1600">
                <a:solidFill>
                  <a:schemeClr val="accent1"/>
                </a:solidFill>
                <a:latin typeface="Lato" panose="020F0502020204030203"/>
                <a:ea typeface="Lato" panose="020F0502020204030203"/>
                <a:cs typeface="Lato" panose="020F0502020204030203"/>
                <a:sym typeface="Lato" panose="020F0502020204030203"/>
              </a:rPr>
              <a:t> </a:t>
            </a:r>
            <a:endParaRPr sz="16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2" name="Shape 92"/>
        <p:cNvGrpSpPr/>
        <p:nvPr/>
      </p:nvGrpSpPr>
      <p:grpSpPr>
        <a:xfrm>
          <a:off x="0" y="0"/>
          <a:ext cx="0" cy="0"/>
          <a:chOff x="0" y="0"/>
          <a:chExt cx="0" cy="0"/>
        </a:xfrm>
      </p:grpSpPr>
      <p:sp>
        <p:nvSpPr>
          <p:cNvPr id="93" name="Google Shape;93;p14"/>
          <p:cNvSpPr txBox="1"/>
          <p:nvPr>
            <p:ph type="title"/>
          </p:nvPr>
        </p:nvSpPr>
        <p:spPr>
          <a:xfrm>
            <a:off x="907975" y="645525"/>
            <a:ext cx="5942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Catalog:</a:t>
            </a:r>
            <a:endParaRPr sz="2940"/>
          </a:p>
        </p:txBody>
      </p:sp>
      <p:sp>
        <p:nvSpPr>
          <p:cNvPr id="94" name="Google Shape;94;p14"/>
          <p:cNvSpPr txBox="1"/>
          <p:nvPr>
            <p:ph type="body" idx="1"/>
          </p:nvPr>
        </p:nvSpPr>
        <p:spPr>
          <a:xfrm>
            <a:off x="1056325" y="1402050"/>
            <a:ext cx="6509400" cy="3008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sp>
        <p:nvSpPr>
          <p:cNvPr id="95" name="Google Shape;95;p14"/>
          <p:cNvSpPr/>
          <p:nvPr/>
        </p:nvSpPr>
        <p:spPr>
          <a:xfrm>
            <a:off x="1128625" y="1595300"/>
            <a:ext cx="593400" cy="276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96" name="Google Shape;96;p14"/>
          <p:cNvSpPr/>
          <p:nvPr/>
        </p:nvSpPr>
        <p:spPr>
          <a:xfrm>
            <a:off x="1128625" y="2186200"/>
            <a:ext cx="593400" cy="276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97" name="Google Shape;97;p14"/>
          <p:cNvSpPr/>
          <p:nvPr/>
        </p:nvSpPr>
        <p:spPr>
          <a:xfrm>
            <a:off x="1128625" y="2830350"/>
            <a:ext cx="593400" cy="276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98" name="Google Shape;98;p14"/>
          <p:cNvSpPr/>
          <p:nvPr/>
        </p:nvSpPr>
        <p:spPr>
          <a:xfrm>
            <a:off x="1128625" y="3474500"/>
            <a:ext cx="593400" cy="276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99" name="Google Shape;99;p14"/>
          <p:cNvSpPr txBox="1"/>
          <p:nvPr/>
        </p:nvSpPr>
        <p:spPr>
          <a:xfrm>
            <a:off x="1821025" y="1480100"/>
            <a:ext cx="5470800" cy="39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900" b="1">
                <a:solidFill>
                  <a:schemeClr val="accent1"/>
                </a:solidFill>
                <a:latin typeface="Lato" panose="020F0502020204030203"/>
                <a:ea typeface="Lato" panose="020F0502020204030203"/>
                <a:cs typeface="Lato" panose="020F0502020204030203"/>
                <a:sym typeface="Lato" panose="020F0502020204030203"/>
              </a:rPr>
              <a:t>The introduction of Heap</a:t>
            </a:r>
            <a:endParaRPr sz="1900" b="1">
              <a:solidFill>
                <a:schemeClr val="accent1"/>
              </a:solidFill>
              <a:latin typeface="Lato" panose="020F0502020204030203"/>
              <a:ea typeface="Lato" panose="020F0502020204030203"/>
              <a:cs typeface="Lato" panose="020F0502020204030203"/>
              <a:sym typeface="Lato" panose="020F0502020204030203"/>
            </a:endParaRPr>
          </a:p>
        </p:txBody>
      </p:sp>
      <p:sp>
        <p:nvSpPr>
          <p:cNvPr id="100" name="Google Shape;100;p14"/>
          <p:cNvSpPr txBox="1"/>
          <p:nvPr/>
        </p:nvSpPr>
        <p:spPr>
          <a:xfrm>
            <a:off x="1821025" y="2091250"/>
            <a:ext cx="4527300" cy="46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900" b="1">
                <a:solidFill>
                  <a:schemeClr val="accent1"/>
                </a:solidFill>
                <a:latin typeface="Lato" panose="020F0502020204030203"/>
                <a:ea typeface="Lato" panose="020F0502020204030203"/>
                <a:cs typeface="Lato" panose="020F0502020204030203"/>
                <a:sym typeface="Lato" panose="020F0502020204030203"/>
              </a:rPr>
              <a:t>The applications of the Heap</a:t>
            </a:r>
            <a:endParaRPr sz="1900" b="1">
              <a:solidFill>
                <a:schemeClr val="accent1"/>
              </a:solidFill>
              <a:latin typeface="Lato" panose="020F0502020204030203"/>
              <a:ea typeface="Lato" panose="020F0502020204030203"/>
              <a:cs typeface="Lato" panose="020F0502020204030203"/>
              <a:sym typeface="Lato" panose="020F0502020204030203"/>
            </a:endParaRPr>
          </a:p>
        </p:txBody>
      </p:sp>
      <p:sp>
        <p:nvSpPr>
          <p:cNvPr id="101" name="Google Shape;101;p14"/>
          <p:cNvSpPr txBox="1"/>
          <p:nvPr/>
        </p:nvSpPr>
        <p:spPr>
          <a:xfrm>
            <a:off x="1819225" y="2749875"/>
            <a:ext cx="4983600" cy="53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900" b="1">
                <a:solidFill>
                  <a:schemeClr val="accent1"/>
                </a:solidFill>
                <a:latin typeface="Lato" panose="020F0502020204030203"/>
                <a:ea typeface="Lato" panose="020F0502020204030203"/>
                <a:cs typeface="Lato" panose="020F0502020204030203"/>
                <a:sym typeface="Lato" panose="020F0502020204030203"/>
              </a:rPr>
              <a:t>The time complexity of Heap Sort</a:t>
            </a:r>
            <a:endParaRPr sz="1900" b="1">
              <a:solidFill>
                <a:schemeClr val="accent1"/>
              </a:solidFill>
              <a:latin typeface="Lato" panose="020F0502020204030203"/>
              <a:ea typeface="Lato" panose="020F0502020204030203"/>
              <a:cs typeface="Lato" panose="020F0502020204030203"/>
              <a:sym typeface="Lato" panose="020F0502020204030203"/>
            </a:endParaRPr>
          </a:p>
        </p:txBody>
      </p:sp>
      <p:sp>
        <p:nvSpPr>
          <p:cNvPr id="102" name="Google Shape;102;p14"/>
          <p:cNvSpPr txBox="1"/>
          <p:nvPr/>
        </p:nvSpPr>
        <p:spPr>
          <a:xfrm>
            <a:off x="1819225" y="3359300"/>
            <a:ext cx="4856100" cy="39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900" b="1">
                <a:solidFill>
                  <a:schemeClr val="accent1"/>
                </a:solidFill>
                <a:latin typeface="Lato" panose="020F0502020204030203"/>
                <a:ea typeface="Lato" panose="020F0502020204030203"/>
                <a:cs typeface="Lato" panose="020F0502020204030203"/>
                <a:sym typeface="Lato" panose="020F0502020204030203"/>
              </a:rPr>
              <a:t>The implement of Heap Sort</a:t>
            </a:r>
            <a:endParaRPr sz="1900" b="1">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07" name="Google Shape;107;p15"/>
          <p:cNvSpPr txBox="1"/>
          <p:nvPr>
            <p:ph type="title"/>
          </p:nvPr>
        </p:nvSpPr>
        <p:spPr>
          <a:xfrm>
            <a:off x="3087755" y="658230"/>
            <a:ext cx="37698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What is Heap?</a:t>
            </a:r>
            <a:endParaRPr sz="2940"/>
          </a:p>
        </p:txBody>
      </p:sp>
      <p:sp>
        <p:nvSpPr>
          <p:cNvPr id="108" name="Google Shape;108;p15"/>
          <p:cNvSpPr txBox="1"/>
          <p:nvPr>
            <p:ph type="body" idx="1"/>
          </p:nvPr>
        </p:nvSpPr>
        <p:spPr>
          <a:xfrm>
            <a:off x="835975" y="1394750"/>
            <a:ext cx="3873000" cy="3528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SzPts val="935"/>
              <a:buNone/>
            </a:pPr>
            <a:r>
              <a:rPr lang="zh-CN" sz="1505"/>
              <a:t>What are the common piles in daily life?</a:t>
            </a:r>
            <a:endParaRPr sz="1505"/>
          </a:p>
        </p:txBody>
      </p:sp>
      <p:pic>
        <p:nvPicPr>
          <p:cNvPr id="109" name="Google Shape;109;p15"/>
          <p:cNvPicPr preferRelativeResize="0"/>
          <p:nvPr/>
        </p:nvPicPr>
        <p:blipFill>
          <a:blip r:embed="rId1"/>
          <a:stretch>
            <a:fillRect/>
          </a:stretch>
        </p:blipFill>
        <p:spPr>
          <a:xfrm>
            <a:off x="5523325" y="1457100"/>
            <a:ext cx="2217275" cy="1691475"/>
          </a:xfrm>
          <a:prstGeom prst="rect">
            <a:avLst/>
          </a:prstGeom>
          <a:noFill/>
          <a:ln>
            <a:noFill/>
          </a:ln>
        </p:spPr>
      </p:pic>
      <p:pic>
        <p:nvPicPr>
          <p:cNvPr id="110" name="Google Shape;110;p15"/>
          <p:cNvPicPr preferRelativeResize="0"/>
          <p:nvPr/>
        </p:nvPicPr>
        <p:blipFill>
          <a:blip r:embed="rId2"/>
          <a:stretch>
            <a:fillRect/>
          </a:stretch>
        </p:blipFill>
        <p:spPr>
          <a:xfrm>
            <a:off x="3820025" y="2926850"/>
            <a:ext cx="2306049" cy="1661000"/>
          </a:xfrm>
          <a:prstGeom prst="rect">
            <a:avLst/>
          </a:prstGeom>
          <a:noFill/>
          <a:ln>
            <a:noFill/>
          </a:ln>
        </p:spPr>
      </p:pic>
      <p:pic>
        <p:nvPicPr>
          <p:cNvPr id="111" name="Google Shape;111;p15"/>
          <p:cNvPicPr preferRelativeResize="0"/>
          <p:nvPr/>
        </p:nvPicPr>
        <p:blipFill>
          <a:blip r:embed="rId3"/>
          <a:stretch>
            <a:fillRect/>
          </a:stretch>
        </p:blipFill>
        <p:spPr>
          <a:xfrm>
            <a:off x="6447900" y="2911613"/>
            <a:ext cx="2066126" cy="1691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1311275" y="590550"/>
            <a:ext cx="6229985" cy="535305"/>
          </a:xfrm>
        </p:spPr>
        <p:txBody>
          <a:bodyPr>
            <a:normAutofit fontScale="90000"/>
          </a:bodyPr>
          <a:p>
            <a:r>
              <a:rPr lang="en-US" altLang="zh-CN" sz="3220"/>
              <a:t>Abstract Data Type: Priority Queue </a:t>
            </a:r>
            <a:endParaRPr lang="en-US" altLang="zh-CN" sz="3220"/>
          </a:p>
        </p:txBody>
      </p:sp>
      <p:sp>
        <p:nvSpPr>
          <p:cNvPr id="3" name="文本占位符 2"/>
          <p:cNvSpPr/>
          <p:nvPr>
            <p:ph type="body" idx="1"/>
          </p:nvPr>
        </p:nvSpPr>
        <p:spPr>
          <a:xfrm>
            <a:off x="646430" y="1295400"/>
            <a:ext cx="8113395" cy="2682240"/>
          </a:xfrm>
        </p:spPr>
        <p:txBody>
          <a:bodyPr>
            <a:noAutofit/>
          </a:bodyPr>
          <a:p>
            <a:pPr marL="146050" indent="0">
              <a:buNone/>
            </a:pPr>
            <a:r>
              <a:rPr lang="en-US" altLang="zh-CN" sz="1800">
                <a:solidFill>
                  <a:schemeClr val="bg2"/>
                </a:solidFill>
              </a:rPr>
              <a:t>Definition: A dynamic collection that allows elements to be processed in order of priority rather than first-in-first-out</a:t>
            </a:r>
            <a:endParaRPr lang="en-US" altLang="zh-CN" sz="1800">
              <a:solidFill>
                <a:schemeClr val="bg2"/>
              </a:solidFill>
            </a:endParaRPr>
          </a:p>
          <a:p>
            <a:pPr marL="146050" indent="0">
              <a:buNone/>
            </a:pPr>
            <a:endParaRPr lang="en-US" altLang="zh-CN" sz="1800">
              <a:solidFill>
                <a:schemeClr val="bg2"/>
              </a:solidFill>
            </a:endParaRPr>
          </a:p>
          <a:p>
            <a:pPr marL="146050" indent="0">
              <a:buNone/>
            </a:pPr>
            <a:r>
              <a:rPr lang="en-US" altLang="zh-CN" sz="1800">
                <a:solidFill>
                  <a:schemeClr val="bg2"/>
                </a:solidFill>
              </a:rPr>
              <a:t>Standard Interface: </a:t>
            </a:r>
            <a:endParaRPr lang="en-US" altLang="zh-CN" sz="1800">
              <a:solidFill>
                <a:schemeClr val="bg2"/>
              </a:solidFill>
            </a:endParaRPr>
          </a:p>
          <a:p>
            <a:pPr marL="146050" indent="0">
              <a:buNone/>
            </a:pPr>
            <a:r>
              <a:rPr lang="zh-CN" sz="1800">
                <a:solidFill>
                  <a:schemeClr val="bg2"/>
                </a:solidFill>
                <a:sym typeface="+mn-ea"/>
              </a:rPr>
              <a:t>•</a:t>
            </a:r>
            <a:r>
              <a:rPr lang="en-US" altLang="zh-CN" sz="1800">
                <a:solidFill>
                  <a:schemeClr val="bg2"/>
                </a:solidFill>
                <a:sym typeface="+mn-ea"/>
              </a:rPr>
              <a:t> insert(val)      </a:t>
            </a:r>
            <a:r>
              <a:rPr lang="en-US" altLang="zh-CN" sz="1800">
                <a:solidFill>
                  <a:srgbClr val="FFC000"/>
                </a:solidFill>
                <a:sym typeface="+mn-ea"/>
              </a:rPr>
              <a:t>Insert a new element</a:t>
            </a:r>
            <a:endParaRPr lang="zh-CN" sz="1800">
              <a:solidFill>
                <a:schemeClr val="bg2"/>
              </a:solidFill>
              <a:sym typeface="+mn-ea"/>
            </a:endParaRPr>
          </a:p>
          <a:p>
            <a:pPr marL="146050" indent="0">
              <a:buNone/>
            </a:pPr>
            <a:r>
              <a:rPr lang="zh-CN" sz="1800">
                <a:solidFill>
                  <a:schemeClr val="bg2"/>
                </a:solidFill>
                <a:sym typeface="+mn-ea"/>
              </a:rPr>
              <a:t>•</a:t>
            </a:r>
            <a:r>
              <a:rPr lang="en-US" altLang="zh-CN" sz="1800">
                <a:solidFill>
                  <a:schemeClr val="bg2"/>
                </a:solidFill>
                <a:sym typeface="+mn-ea"/>
              </a:rPr>
              <a:t> </a:t>
            </a:r>
            <a:r>
              <a:rPr lang="zh-CN" sz="1800">
                <a:solidFill>
                  <a:schemeClr val="bg2"/>
                </a:solidFill>
                <a:sym typeface="+mn-ea"/>
              </a:rPr>
              <a:t>get_min()</a:t>
            </a:r>
            <a:r>
              <a:rPr lang="en-US" altLang="zh-CN" sz="1800">
                <a:solidFill>
                  <a:schemeClr val="bg2"/>
                </a:solidFill>
                <a:sym typeface="+mn-ea"/>
              </a:rPr>
              <a:t>/get_max()  </a:t>
            </a:r>
            <a:r>
              <a:rPr lang="en-US" altLang="zh-CN" sz="1800">
                <a:solidFill>
                  <a:srgbClr val="FFC000"/>
                </a:solidFill>
                <a:sym typeface="+mn-ea"/>
              </a:rPr>
              <a:t>Obtain the maximum or minimum value</a:t>
            </a:r>
            <a:endParaRPr lang="zh-CN" sz="1800">
              <a:solidFill>
                <a:srgbClr val="FFC000"/>
              </a:solidFill>
              <a:sym typeface="+mn-ea"/>
            </a:endParaRPr>
          </a:p>
          <a:p>
            <a:pPr marL="146050" indent="0">
              <a:buNone/>
            </a:pPr>
            <a:r>
              <a:rPr lang="zh-CN" sz="1800">
                <a:solidFill>
                  <a:schemeClr val="bg2"/>
                </a:solidFill>
                <a:sym typeface="+mn-ea"/>
              </a:rPr>
              <a:t>•</a:t>
            </a:r>
            <a:r>
              <a:rPr lang="en-US" altLang="zh-CN" sz="1800">
                <a:solidFill>
                  <a:schemeClr val="bg2"/>
                </a:solidFill>
                <a:sym typeface="+mn-ea"/>
              </a:rPr>
              <a:t> </a:t>
            </a:r>
            <a:r>
              <a:rPr lang="zh-CN" sz="1800">
                <a:solidFill>
                  <a:schemeClr val="bg2"/>
                </a:solidFill>
                <a:sym typeface="+mn-ea"/>
              </a:rPr>
              <a:t>remove_min()</a:t>
            </a:r>
            <a:r>
              <a:rPr lang="en-US" altLang="zh-CN" sz="1800">
                <a:solidFill>
                  <a:schemeClr val="bg2"/>
                </a:solidFill>
                <a:sym typeface="+mn-ea"/>
              </a:rPr>
              <a:t>/remove_max() </a:t>
            </a:r>
            <a:r>
              <a:rPr lang="en-US" altLang="zh-CN" sz="1800">
                <a:solidFill>
                  <a:srgbClr val="FFC000"/>
                </a:solidFill>
                <a:sym typeface="+mn-ea"/>
              </a:rPr>
              <a:t>delete the maximum or minimum value</a:t>
            </a:r>
            <a:endParaRPr lang="en-US" altLang="zh-CN" sz="1800">
              <a:solidFill>
                <a:srgbClr val="FFC000"/>
              </a:solidFill>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sp>
        <p:nvSpPr>
          <p:cNvPr id="116" name="Google Shape;116;p16"/>
          <p:cNvSpPr txBox="1"/>
          <p:nvPr>
            <p:ph type="title"/>
          </p:nvPr>
        </p:nvSpPr>
        <p:spPr>
          <a:xfrm>
            <a:off x="2155825" y="588225"/>
            <a:ext cx="51891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zh-CN" sz="2940">
                <a:sym typeface="+mn-ea"/>
              </a:rPr>
              <a:t>What is Heap</a:t>
            </a:r>
            <a:r>
              <a:rPr lang="en-US" altLang="zh-CN" sz="2940">
                <a:sym typeface="+mn-ea"/>
              </a:rPr>
              <a:t> structure</a:t>
            </a:r>
            <a:r>
              <a:rPr lang="zh-CN" sz="2940">
                <a:sym typeface="+mn-ea"/>
              </a:rPr>
              <a:t>?</a:t>
            </a:r>
            <a:endParaRPr sz="2940"/>
          </a:p>
        </p:txBody>
      </p:sp>
      <p:sp>
        <p:nvSpPr>
          <p:cNvPr id="117" name="Google Shape;117;p16"/>
          <p:cNvSpPr txBox="1"/>
          <p:nvPr>
            <p:ph type="body" idx="1"/>
          </p:nvPr>
        </p:nvSpPr>
        <p:spPr>
          <a:xfrm>
            <a:off x="835975" y="1441200"/>
            <a:ext cx="7688700" cy="3365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CN" sz="1600"/>
              <a:t>Definition: A nonlinear data structure based on the "complete binary tree" structure, which satisfies the size relationship between parent nodes and child nodes (heap property), and supports efficient insertion, deletion of the maximum or minimum value, and query of the maximum or minimum value operations.</a:t>
            </a:r>
            <a:endParaRPr sz="1600"/>
          </a:p>
          <a:p>
            <a:pPr marL="0" lvl="0" indent="0" algn="l" rtl="0">
              <a:spcBef>
                <a:spcPts val="1200"/>
              </a:spcBef>
              <a:spcAft>
                <a:spcPts val="0"/>
              </a:spcAft>
              <a:buNone/>
            </a:pPr>
            <a:endParaRPr sz="1600"/>
          </a:p>
          <a:p>
            <a:pPr marL="0" lvl="0" indent="0" algn="l" rtl="0">
              <a:spcBef>
                <a:spcPts val="1200"/>
              </a:spcBef>
              <a:spcAft>
                <a:spcPts val="0"/>
              </a:spcAft>
              <a:buNone/>
            </a:pPr>
            <a:r>
              <a:rPr lang="zh-CN" sz="1600"/>
              <a:t>A heap is a special kind of complete binary tree, in which each node satisfies the following heap order property: </a:t>
            </a:r>
            <a:endParaRPr sz="1600"/>
          </a:p>
          <a:p>
            <a:pPr marL="0" lvl="0" indent="0" algn="l" rtl="0">
              <a:spcBef>
                <a:spcPts val="1200"/>
              </a:spcBef>
              <a:spcAft>
                <a:spcPts val="0"/>
              </a:spcAft>
              <a:buNone/>
            </a:pPr>
            <a:r>
              <a:rPr lang="zh-CN" sz="1600"/>
              <a:t>• Max Heap</a:t>
            </a:r>
            <a:endParaRPr sz="1600"/>
          </a:p>
          <a:p>
            <a:pPr marL="0" lvl="0" indent="0" algn="l" rtl="0">
              <a:spcBef>
                <a:spcPts val="1200"/>
              </a:spcBef>
              <a:spcAft>
                <a:spcPts val="1200"/>
              </a:spcAft>
              <a:buNone/>
            </a:pPr>
            <a:r>
              <a:rPr lang="zh-CN" sz="1600"/>
              <a:t>• Min Heap</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50" name="Shape 150"/>
        <p:cNvGrpSpPr/>
        <p:nvPr/>
      </p:nvGrpSpPr>
      <p:grpSpPr>
        <a:xfrm>
          <a:off x="0" y="0"/>
          <a:ext cx="0" cy="0"/>
          <a:chOff x="0" y="0"/>
          <a:chExt cx="0" cy="0"/>
        </a:xfrm>
      </p:grpSpPr>
      <p:sp>
        <p:nvSpPr>
          <p:cNvPr id="151" name="Google Shape;151;p18"/>
          <p:cNvSpPr txBox="1"/>
          <p:nvPr>
            <p:ph type="title"/>
          </p:nvPr>
        </p:nvSpPr>
        <p:spPr>
          <a:xfrm>
            <a:off x="1326400" y="1153975"/>
            <a:ext cx="6950400" cy="839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990"/>
              <a:buNone/>
            </a:pPr>
            <a:r>
              <a:rPr lang="zh-CN" sz="1650">
                <a:solidFill>
                  <a:schemeClr val="accent1"/>
                </a:solidFill>
                <a:latin typeface="Lato" panose="020F0502020204030203"/>
                <a:ea typeface="Lato" panose="020F0502020204030203"/>
                <a:cs typeface="Lato" panose="020F0502020204030203"/>
                <a:sym typeface="Lato" panose="020F0502020204030203"/>
              </a:rPr>
              <a:t>The value of any parent node is ≥ the values of its left and right child nodes. The root node is the maximum value of the entire heap.</a:t>
            </a:r>
            <a:r>
              <a:rPr lang="zh-CN" sz="1650" b="0">
                <a:solidFill>
                  <a:schemeClr val="accent1"/>
                </a:solidFill>
                <a:latin typeface="Lato" panose="020F0502020204030203"/>
                <a:ea typeface="Lato" panose="020F0502020204030203"/>
                <a:cs typeface="Lato" panose="020F0502020204030203"/>
                <a:sym typeface="Lato" panose="020F0502020204030203"/>
              </a:rPr>
              <a:t> </a:t>
            </a:r>
            <a:endParaRPr sz="1650"/>
          </a:p>
        </p:txBody>
      </p:sp>
      <p:sp>
        <p:nvSpPr>
          <p:cNvPr id="152" name="Google Shape;152;p18"/>
          <p:cNvSpPr txBox="1"/>
          <p:nvPr>
            <p:ph type="body" idx="1"/>
          </p:nvPr>
        </p:nvSpPr>
        <p:spPr>
          <a:xfrm>
            <a:off x="3643575" y="503875"/>
            <a:ext cx="1966500" cy="6501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zh-CN" sz="2900" b="1">
                <a:solidFill>
                  <a:srgbClr val="121314"/>
                </a:solidFill>
              </a:rPr>
              <a:t>Max Heap</a:t>
            </a:r>
            <a:endParaRPr sz="2900" b="1">
              <a:solidFill>
                <a:srgbClr val="121314"/>
              </a:solidFill>
            </a:endParaRPr>
          </a:p>
        </p:txBody>
      </p:sp>
      <p:sp>
        <p:nvSpPr>
          <p:cNvPr id="153" name="Google Shape;153;p18"/>
          <p:cNvSpPr/>
          <p:nvPr/>
        </p:nvSpPr>
        <p:spPr>
          <a:xfrm>
            <a:off x="5777575" y="18539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12</a:t>
            </a:r>
            <a:endParaRPr>
              <a:latin typeface="Lato" panose="020F0502020204030203"/>
              <a:ea typeface="Lato" panose="020F0502020204030203"/>
              <a:cs typeface="Lato" panose="020F0502020204030203"/>
              <a:sym typeface="Lato" panose="020F0502020204030203"/>
            </a:endParaRPr>
          </a:p>
        </p:txBody>
      </p:sp>
      <p:sp>
        <p:nvSpPr>
          <p:cNvPr id="154" name="Google Shape;154;p18"/>
          <p:cNvSpPr/>
          <p:nvPr/>
        </p:nvSpPr>
        <p:spPr>
          <a:xfrm>
            <a:off x="4856875" y="2647838"/>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9</a:t>
            </a:r>
            <a:endParaRPr>
              <a:latin typeface="Lato" panose="020F0502020204030203"/>
              <a:ea typeface="Lato" panose="020F0502020204030203"/>
              <a:cs typeface="Lato" panose="020F0502020204030203"/>
              <a:sym typeface="Lato" panose="020F0502020204030203"/>
            </a:endParaRPr>
          </a:p>
        </p:txBody>
      </p:sp>
      <p:sp>
        <p:nvSpPr>
          <p:cNvPr id="155" name="Google Shape;155;p18"/>
          <p:cNvSpPr/>
          <p:nvPr/>
        </p:nvSpPr>
        <p:spPr>
          <a:xfrm>
            <a:off x="6875825" y="26478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6</a:t>
            </a:r>
            <a:endParaRPr>
              <a:latin typeface="Lato" panose="020F0502020204030203"/>
              <a:ea typeface="Lato" panose="020F0502020204030203"/>
              <a:cs typeface="Lato" panose="020F0502020204030203"/>
              <a:sym typeface="Lato" panose="020F0502020204030203"/>
            </a:endParaRPr>
          </a:p>
        </p:txBody>
      </p:sp>
      <p:sp>
        <p:nvSpPr>
          <p:cNvPr id="156" name="Google Shape;156;p18"/>
          <p:cNvSpPr/>
          <p:nvPr/>
        </p:nvSpPr>
        <p:spPr>
          <a:xfrm>
            <a:off x="5610075" y="36044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8</a:t>
            </a:r>
            <a:endParaRPr>
              <a:latin typeface="Lato" panose="020F0502020204030203"/>
              <a:ea typeface="Lato" panose="020F0502020204030203"/>
              <a:cs typeface="Lato" panose="020F0502020204030203"/>
              <a:sym typeface="Lato" panose="020F0502020204030203"/>
            </a:endParaRPr>
          </a:p>
        </p:txBody>
      </p:sp>
      <p:sp>
        <p:nvSpPr>
          <p:cNvPr id="157" name="Google Shape;157;p18"/>
          <p:cNvSpPr/>
          <p:nvPr/>
        </p:nvSpPr>
        <p:spPr>
          <a:xfrm>
            <a:off x="6180675" y="36044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158" name="Google Shape;158;p18"/>
          <p:cNvSpPr/>
          <p:nvPr/>
        </p:nvSpPr>
        <p:spPr>
          <a:xfrm>
            <a:off x="4050400" y="36044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7</a:t>
            </a:r>
            <a:endParaRPr>
              <a:latin typeface="Lato" panose="020F0502020204030203"/>
              <a:ea typeface="Lato" panose="020F0502020204030203"/>
              <a:cs typeface="Lato" panose="020F0502020204030203"/>
              <a:sym typeface="Lato" panose="020F0502020204030203"/>
            </a:endParaRPr>
          </a:p>
        </p:txBody>
      </p:sp>
      <p:sp>
        <p:nvSpPr>
          <p:cNvPr id="159" name="Google Shape;159;p18"/>
          <p:cNvSpPr/>
          <p:nvPr/>
        </p:nvSpPr>
        <p:spPr>
          <a:xfrm rot="7956673">
            <a:off x="5309174" y="2392504"/>
            <a:ext cx="534401" cy="24374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60" name="Google Shape;160;p18"/>
          <p:cNvSpPr/>
          <p:nvPr/>
        </p:nvSpPr>
        <p:spPr>
          <a:xfrm rot="7956673">
            <a:off x="4502874" y="3255604"/>
            <a:ext cx="534401" cy="24374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61" name="Google Shape;161;p18"/>
          <p:cNvSpPr/>
          <p:nvPr/>
        </p:nvSpPr>
        <p:spPr>
          <a:xfrm rot="2701365">
            <a:off x="5287048" y="3255491"/>
            <a:ext cx="534361" cy="243952"/>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62" name="Google Shape;162;p18"/>
          <p:cNvSpPr/>
          <p:nvPr/>
        </p:nvSpPr>
        <p:spPr>
          <a:xfrm rot="2172428">
            <a:off x="6321138" y="2373518"/>
            <a:ext cx="534276" cy="243857"/>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63" name="Google Shape;163;p18"/>
          <p:cNvSpPr/>
          <p:nvPr/>
        </p:nvSpPr>
        <p:spPr>
          <a:xfrm rot="7956673">
            <a:off x="6459974" y="3255604"/>
            <a:ext cx="534401" cy="24374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64" name="Google Shape;164;p18"/>
          <p:cNvSpPr/>
          <p:nvPr/>
        </p:nvSpPr>
        <p:spPr>
          <a:xfrm>
            <a:off x="2959750" y="2883700"/>
            <a:ext cx="722700" cy="251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65" name="Google Shape;165;p18"/>
          <p:cNvSpPr txBox="1"/>
          <p:nvPr/>
        </p:nvSpPr>
        <p:spPr>
          <a:xfrm>
            <a:off x="542625" y="2424650"/>
            <a:ext cx="2046900" cy="205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Attention: </a:t>
            </a:r>
            <a:endParaRPr sz="1300">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600">
                <a:solidFill>
                  <a:schemeClr val="accent1"/>
                </a:solidFill>
                <a:latin typeface="Lato" panose="020F0502020204030203"/>
                <a:ea typeface="Lato" panose="020F0502020204030203"/>
                <a:cs typeface="Lato" panose="020F0502020204030203"/>
                <a:sym typeface="Lato" panose="020F0502020204030203"/>
              </a:rPr>
              <a:t>•</a:t>
            </a:r>
            <a:r>
              <a:rPr lang="zh-CN" sz="1300">
                <a:solidFill>
                  <a:schemeClr val="accent1"/>
                </a:solidFill>
                <a:latin typeface="Lato" panose="020F0502020204030203"/>
                <a:ea typeface="Lato" panose="020F0502020204030203"/>
                <a:cs typeface="Lato" panose="020F0502020204030203"/>
                <a:sym typeface="Lato" panose="020F0502020204030203"/>
              </a:rPr>
              <a:t>A binary tree arranged from top to bottom and from left to right in sequence.</a:t>
            </a:r>
            <a:endParaRPr sz="1300">
              <a:solidFill>
                <a:schemeClr val="accent1"/>
              </a:solidFill>
              <a:latin typeface="Lato" panose="020F0502020204030203"/>
              <a:ea typeface="Lato" panose="020F0502020204030203"/>
              <a:cs typeface="Lato" panose="020F0502020204030203"/>
              <a:sym typeface="Lato" panose="020F0502020204030203"/>
            </a:endParaRPr>
          </a:p>
          <a:p>
            <a:pPr marL="0" lvl="0" indent="0" algn="l" rtl="0">
              <a:lnSpc>
                <a:spcPct val="115000"/>
              </a:lnSpc>
              <a:spcBef>
                <a:spcPts val="0"/>
              </a:spcBef>
              <a:spcAft>
                <a:spcPts val="1200"/>
              </a:spcAft>
              <a:buNone/>
            </a:pPr>
            <a:r>
              <a:rPr lang="zh-CN" sz="1600">
                <a:solidFill>
                  <a:schemeClr val="accent1"/>
                </a:solidFill>
                <a:latin typeface="Lato" panose="020F0502020204030203"/>
                <a:ea typeface="Lato" panose="020F0502020204030203"/>
                <a:cs typeface="Lato" panose="020F0502020204030203"/>
                <a:sym typeface="Lato" panose="020F0502020204030203"/>
              </a:rPr>
              <a:t>•</a:t>
            </a:r>
            <a:r>
              <a:rPr lang="zh-CN" sz="1300">
                <a:solidFill>
                  <a:schemeClr val="accent1"/>
                </a:solidFill>
                <a:latin typeface="Lato" panose="020F0502020204030203"/>
                <a:ea typeface="Lato" panose="020F0502020204030203"/>
                <a:cs typeface="Lato" panose="020F0502020204030203"/>
                <a:sym typeface="Lato" panose="020F0502020204030203"/>
              </a:rPr>
              <a:t>Only the right side of the last layer is allowed to have a vacancy</a:t>
            </a:r>
            <a:endParaRPr sz="13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3578860" y="497205"/>
            <a:ext cx="2085340" cy="5353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00">
                <a:solidFill>
                  <a:srgbClr val="121314"/>
                </a:solidFill>
                <a:sym typeface="+mn-ea"/>
              </a:rPr>
              <a:t>M</a:t>
            </a:r>
            <a:r>
              <a:rPr lang="en-US" altLang="zh-CN" sz="2900">
                <a:solidFill>
                  <a:srgbClr val="121314"/>
                </a:solidFill>
                <a:sym typeface="+mn-ea"/>
              </a:rPr>
              <a:t>in</a:t>
            </a:r>
            <a:r>
              <a:rPr lang="zh-CN" sz="2900">
                <a:solidFill>
                  <a:srgbClr val="121314"/>
                </a:solidFill>
                <a:sym typeface="+mn-ea"/>
              </a:rPr>
              <a:t> Heap</a:t>
            </a:r>
            <a:endParaRPr sz="2900"/>
          </a:p>
        </p:txBody>
      </p:sp>
      <p:sp>
        <p:nvSpPr>
          <p:cNvPr id="171" name="Google Shape;171;p19"/>
          <p:cNvSpPr txBox="1"/>
          <p:nvPr>
            <p:ph type="body" idx="1"/>
          </p:nvPr>
        </p:nvSpPr>
        <p:spPr>
          <a:xfrm>
            <a:off x="1326450" y="1173425"/>
            <a:ext cx="6870600" cy="8937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zh-CN" sz="1660" b="1"/>
              <a:t>The value of any parent node is  ≤ the values of its left and right child nodes. The root node is the minimum value of the entire heap.</a:t>
            </a:r>
            <a:endParaRPr sz="1660" b="1"/>
          </a:p>
          <a:p>
            <a:pPr marL="0" lvl="0" indent="0" algn="l" rtl="0">
              <a:lnSpc>
                <a:spcPct val="95000"/>
              </a:lnSpc>
              <a:spcBef>
                <a:spcPts val="1200"/>
              </a:spcBef>
              <a:spcAft>
                <a:spcPts val="1200"/>
              </a:spcAft>
              <a:buSzPts val="935"/>
              <a:buNone/>
            </a:pPr>
            <a:endParaRPr sz="1105"/>
          </a:p>
        </p:txBody>
      </p:sp>
      <p:sp>
        <p:nvSpPr>
          <p:cNvPr id="172" name="Google Shape;172;p19"/>
          <p:cNvSpPr/>
          <p:nvPr/>
        </p:nvSpPr>
        <p:spPr>
          <a:xfrm>
            <a:off x="5857200" y="1838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173" name="Google Shape;173;p19"/>
          <p:cNvSpPr/>
          <p:nvPr/>
        </p:nvSpPr>
        <p:spPr>
          <a:xfrm>
            <a:off x="4070488" y="37433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9</a:t>
            </a:r>
            <a:endParaRPr>
              <a:latin typeface="Lato" panose="020F0502020204030203"/>
              <a:ea typeface="Lato" panose="020F0502020204030203"/>
              <a:cs typeface="Lato" panose="020F0502020204030203"/>
              <a:sym typeface="Lato" panose="020F0502020204030203"/>
            </a:endParaRPr>
          </a:p>
        </p:txBody>
      </p:sp>
      <p:sp>
        <p:nvSpPr>
          <p:cNvPr id="174" name="Google Shape;174;p19"/>
          <p:cNvSpPr/>
          <p:nvPr/>
        </p:nvSpPr>
        <p:spPr>
          <a:xfrm>
            <a:off x="5573275" y="37433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8</a:t>
            </a:r>
            <a:endParaRPr>
              <a:latin typeface="Lato" panose="020F0502020204030203"/>
              <a:ea typeface="Lato" panose="020F0502020204030203"/>
              <a:cs typeface="Lato" panose="020F0502020204030203"/>
              <a:sym typeface="Lato" panose="020F0502020204030203"/>
            </a:endParaRPr>
          </a:p>
        </p:txBody>
      </p:sp>
      <p:sp>
        <p:nvSpPr>
          <p:cNvPr id="175" name="Google Shape;175;p19"/>
          <p:cNvSpPr/>
          <p:nvPr/>
        </p:nvSpPr>
        <p:spPr>
          <a:xfrm>
            <a:off x="6836200" y="2702238"/>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7</a:t>
            </a:r>
            <a:endParaRPr>
              <a:latin typeface="Lato" panose="020F0502020204030203"/>
              <a:ea typeface="Lato" panose="020F0502020204030203"/>
              <a:cs typeface="Lato" panose="020F0502020204030203"/>
              <a:sym typeface="Lato" panose="020F0502020204030203"/>
            </a:endParaRPr>
          </a:p>
        </p:txBody>
      </p:sp>
      <p:sp>
        <p:nvSpPr>
          <p:cNvPr id="176" name="Google Shape;176;p19"/>
          <p:cNvSpPr/>
          <p:nvPr/>
        </p:nvSpPr>
        <p:spPr>
          <a:xfrm>
            <a:off x="6143875" y="37433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12</a:t>
            </a:r>
            <a:endParaRPr>
              <a:latin typeface="Lato" panose="020F0502020204030203"/>
              <a:ea typeface="Lato" panose="020F0502020204030203"/>
              <a:cs typeface="Lato" panose="020F0502020204030203"/>
              <a:sym typeface="Lato" panose="020F0502020204030203"/>
            </a:endParaRPr>
          </a:p>
        </p:txBody>
      </p:sp>
      <p:sp>
        <p:nvSpPr>
          <p:cNvPr id="177" name="Google Shape;177;p19"/>
          <p:cNvSpPr/>
          <p:nvPr/>
        </p:nvSpPr>
        <p:spPr>
          <a:xfrm>
            <a:off x="4914988" y="27022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6</a:t>
            </a:r>
            <a:endParaRPr>
              <a:latin typeface="Lato" panose="020F0502020204030203"/>
              <a:ea typeface="Lato" panose="020F0502020204030203"/>
              <a:cs typeface="Lato" panose="020F0502020204030203"/>
              <a:sym typeface="Lato" panose="020F0502020204030203"/>
            </a:endParaRPr>
          </a:p>
        </p:txBody>
      </p:sp>
      <p:sp>
        <p:nvSpPr>
          <p:cNvPr id="178" name="Google Shape;178;p19"/>
          <p:cNvSpPr txBox="1"/>
          <p:nvPr/>
        </p:nvSpPr>
        <p:spPr>
          <a:xfrm>
            <a:off x="542625" y="2424650"/>
            <a:ext cx="2046900" cy="205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Attention: </a:t>
            </a:r>
            <a:endParaRPr sz="1300">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600">
                <a:solidFill>
                  <a:schemeClr val="accent1"/>
                </a:solidFill>
                <a:latin typeface="Lato" panose="020F0502020204030203"/>
                <a:ea typeface="Lato" panose="020F0502020204030203"/>
                <a:cs typeface="Lato" panose="020F0502020204030203"/>
                <a:sym typeface="Lato" panose="020F0502020204030203"/>
              </a:rPr>
              <a:t>•</a:t>
            </a:r>
            <a:r>
              <a:rPr lang="zh-CN" sz="1300">
                <a:solidFill>
                  <a:schemeClr val="accent1"/>
                </a:solidFill>
                <a:latin typeface="Lato" panose="020F0502020204030203"/>
                <a:ea typeface="Lato" panose="020F0502020204030203"/>
                <a:cs typeface="Lato" panose="020F0502020204030203"/>
                <a:sym typeface="Lato" panose="020F0502020204030203"/>
              </a:rPr>
              <a:t>A binary tree arranged from top to bottom and from left to right in sequence.</a:t>
            </a:r>
            <a:endParaRPr sz="1300">
              <a:solidFill>
                <a:schemeClr val="accent1"/>
              </a:solidFill>
              <a:latin typeface="Lato" panose="020F0502020204030203"/>
              <a:ea typeface="Lato" panose="020F0502020204030203"/>
              <a:cs typeface="Lato" panose="020F0502020204030203"/>
              <a:sym typeface="Lato" panose="020F0502020204030203"/>
            </a:endParaRPr>
          </a:p>
          <a:p>
            <a:pPr marL="0" lvl="0" indent="0" algn="l" rtl="0">
              <a:lnSpc>
                <a:spcPct val="115000"/>
              </a:lnSpc>
              <a:spcBef>
                <a:spcPts val="0"/>
              </a:spcBef>
              <a:spcAft>
                <a:spcPts val="1200"/>
              </a:spcAft>
              <a:buNone/>
            </a:pPr>
            <a:r>
              <a:rPr lang="zh-CN" sz="1600">
                <a:solidFill>
                  <a:schemeClr val="accent1"/>
                </a:solidFill>
                <a:latin typeface="Lato" panose="020F0502020204030203"/>
                <a:ea typeface="Lato" panose="020F0502020204030203"/>
                <a:cs typeface="Lato" panose="020F0502020204030203"/>
                <a:sym typeface="Lato" panose="020F0502020204030203"/>
              </a:rPr>
              <a:t>•</a:t>
            </a:r>
            <a:r>
              <a:rPr lang="zh-CN" sz="1300">
                <a:solidFill>
                  <a:schemeClr val="accent1"/>
                </a:solidFill>
                <a:latin typeface="Lato" panose="020F0502020204030203"/>
                <a:ea typeface="Lato" panose="020F0502020204030203"/>
                <a:cs typeface="Lato" panose="020F0502020204030203"/>
                <a:sym typeface="Lato" panose="020F0502020204030203"/>
              </a:rPr>
              <a:t>Only the right side of the last layer is allowed to have a vacancy</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179" name="Google Shape;179;p19"/>
          <p:cNvSpPr/>
          <p:nvPr/>
        </p:nvSpPr>
        <p:spPr>
          <a:xfrm rot="7685532">
            <a:off x="4494551" y="3390782"/>
            <a:ext cx="534422" cy="243832"/>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80" name="Google Shape;180;p19"/>
          <p:cNvSpPr/>
          <p:nvPr/>
        </p:nvSpPr>
        <p:spPr>
          <a:xfrm rot="7825401">
            <a:off x="5377563" y="23712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81" name="Google Shape;181;p19"/>
          <p:cNvSpPr/>
          <p:nvPr/>
        </p:nvSpPr>
        <p:spPr>
          <a:xfrm rot="7553128">
            <a:off x="6526998" y="3390685"/>
            <a:ext cx="534319" cy="24405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82" name="Google Shape;182;p19"/>
          <p:cNvSpPr/>
          <p:nvPr/>
        </p:nvSpPr>
        <p:spPr>
          <a:xfrm rot="2701365">
            <a:off x="6405273" y="2371141"/>
            <a:ext cx="534361" cy="243952"/>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83" name="Google Shape;183;p19"/>
          <p:cNvSpPr/>
          <p:nvPr/>
        </p:nvSpPr>
        <p:spPr>
          <a:xfrm rot="3206718">
            <a:off x="5354058" y="3390890"/>
            <a:ext cx="534428" cy="243603"/>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184" name="Google Shape;184;p19"/>
          <p:cNvSpPr/>
          <p:nvPr/>
        </p:nvSpPr>
        <p:spPr>
          <a:xfrm>
            <a:off x="2963425" y="2839200"/>
            <a:ext cx="722700" cy="251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09" name="Shape 209"/>
        <p:cNvGrpSpPr/>
        <p:nvPr/>
      </p:nvGrpSpPr>
      <p:grpSpPr>
        <a:xfrm>
          <a:off x="0" y="0"/>
          <a:ext cx="0" cy="0"/>
          <a:chOff x="0" y="0"/>
          <a:chExt cx="0" cy="0"/>
        </a:xfrm>
      </p:grpSpPr>
      <p:sp>
        <p:nvSpPr>
          <p:cNvPr id="210" name="Google Shape;210;p23"/>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910">
                <a:latin typeface="Lato" panose="020F0502020204030203"/>
                <a:ea typeface="Lato" panose="020F0502020204030203"/>
                <a:cs typeface="Lato" panose="020F0502020204030203"/>
                <a:sym typeface="Lato" panose="020F0502020204030203"/>
              </a:rPr>
              <a:t> Heap</a:t>
            </a:r>
            <a:endParaRPr lang="en-US" sz="2910"/>
          </a:p>
        </p:txBody>
      </p:sp>
      <p:sp>
        <p:nvSpPr>
          <p:cNvPr id="211" name="Google Shape;211;p23"/>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212" name="Google Shape;212;p23"/>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R</a:t>
            </a:r>
            <a:r>
              <a:rPr lang="zh-CN" sz="1300">
                <a:solidFill>
                  <a:schemeClr val="accent1"/>
                </a:solidFill>
                <a:latin typeface="Lato" panose="020F0502020204030203"/>
                <a:ea typeface="Lato" panose="020F0502020204030203"/>
                <a:cs typeface="Lato" panose="020F0502020204030203"/>
                <a:sym typeface="Lato" panose="020F0502020204030203"/>
              </a:rPr>
              <a:t>andomly select an unordered array: </a:t>
            </a:r>
            <a:endParaRPr sz="1300">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 10, 3, 5, 1, 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13" name="Google Shape;213;p23"/>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214" name="Google Shape;214;p23"/>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215" name="Google Shape;215;p23"/>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216" name="Google Shape;216;p23"/>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217" name="Google Shape;217;p23"/>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218" name="Google Shape;218;p23"/>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219" name="Google Shape;219;p23"/>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20" name="Google Shape;220;p23"/>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21" name="Google Shape;221;p23"/>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22" name="Google Shape;222;p23"/>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23" name="Google Shape;223;p23"/>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24" name="Google Shape;224;p23"/>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25" name="Google Shape;225;p23"/>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26" name="Google Shape;226;p23"/>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27" name="Google Shape;227;p23"/>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28" name="Google Shape;228;p23"/>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29" name="Google Shape;229;p23"/>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30" name="Google Shape;230;p23"/>
          <p:cNvSpPr/>
          <p:nvPr/>
        </p:nvSpPr>
        <p:spPr>
          <a:xfrm>
            <a:off x="7329325" y="1445625"/>
            <a:ext cx="783600" cy="2436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31" name="Google Shape;231;p23"/>
          <p:cNvSpPr/>
          <p:nvPr/>
        </p:nvSpPr>
        <p:spPr>
          <a:xfrm>
            <a:off x="6971725" y="1445625"/>
            <a:ext cx="357600" cy="3273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32" name="Google Shape;232;p23"/>
          <p:cNvSpPr txBox="1"/>
          <p:nvPr/>
        </p:nvSpPr>
        <p:spPr>
          <a:xfrm>
            <a:off x="8140875" y="1361925"/>
            <a:ext cx="7836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3"/>
                </a:solidFill>
                <a:latin typeface="Lato" panose="020F0502020204030203"/>
                <a:ea typeface="Lato" panose="020F0502020204030203"/>
                <a:cs typeface="Lato" panose="020F0502020204030203"/>
                <a:sym typeface="Lato" panose="020F0502020204030203"/>
              </a:rPr>
              <a:t>index</a:t>
            </a:r>
            <a:endParaRPr sz="1300">
              <a:solidFill>
                <a:schemeClr val="accent3"/>
              </a:solidFill>
              <a:latin typeface="Lato" panose="020F0502020204030203"/>
              <a:ea typeface="Lato" panose="020F0502020204030203"/>
              <a:cs typeface="Lato" panose="020F0502020204030203"/>
              <a:sym typeface="Lato" panose="020F0502020204030203"/>
            </a:endParaRPr>
          </a:p>
        </p:txBody>
      </p:sp>
      <p:graphicFrame>
        <p:nvGraphicFramePr>
          <p:cNvPr id="233" name="Google Shape;233;p23"/>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r>
            </a:tbl>
          </a:graphicData>
        </a:graphic>
      </p:graphicFrame>
      <p:sp>
        <p:nvSpPr>
          <p:cNvPr id="234" name="Google Shape;234;p23"/>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35" name="Google Shape;235;p23"/>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36" name="Google Shape;236;p23"/>
          <p:cNvSpPr/>
          <p:nvPr/>
        </p:nvSpPr>
        <p:spPr>
          <a:xfrm>
            <a:off x="1463400" y="3390950"/>
            <a:ext cx="242100" cy="5895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37" name="Google Shape;237;p23"/>
          <p:cNvSpPr txBox="1"/>
          <p:nvPr/>
        </p:nvSpPr>
        <p:spPr>
          <a:xfrm>
            <a:off x="809100" y="2634300"/>
            <a:ext cx="2457600" cy="69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For easy of representation, elements with a subscript of 0 are usually removed</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238" name="Google Shape;238;p23"/>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42" name="Shape 242"/>
        <p:cNvGrpSpPr/>
        <p:nvPr/>
      </p:nvGrpSpPr>
      <p:grpSpPr>
        <a:xfrm>
          <a:off x="0" y="0"/>
          <a:ext cx="0" cy="0"/>
          <a:chOff x="0" y="0"/>
          <a:chExt cx="0" cy="0"/>
        </a:xfrm>
      </p:grpSpPr>
      <p:sp>
        <p:nvSpPr>
          <p:cNvPr id="243" name="Google Shape;243;p24"/>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910">
                <a:latin typeface="Lato" panose="020F0502020204030203"/>
                <a:ea typeface="Lato" panose="020F0502020204030203"/>
                <a:cs typeface="Lato" panose="020F0502020204030203"/>
                <a:sym typeface="Lato" panose="020F0502020204030203"/>
              </a:rPr>
              <a:t> Heap</a:t>
            </a:r>
            <a:endParaRPr sz="2910">
              <a:latin typeface="Lato" panose="020F0502020204030203"/>
              <a:ea typeface="Lato" panose="020F0502020204030203"/>
              <a:cs typeface="Lato" panose="020F0502020204030203"/>
              <a:sym typeface="Lato" panose="020F0502020204030203"/>
            </a:endParaRPr>
          </a:p>
          <a:p>
            <a:pPr marL="0" lvl="0" indent="0" algn="ctr" rtl="0">
              <a:spcBef>
                <a:spcPts val="0"/>
              </a:spcBef>
              <a:spcAft>
                <a:spcPts val="0"/>
              </a:spcAft>
              <a:buSzPts val="990"/>
              <a:buNone/>
            </a:pPr>
            <a:endParaRPr sz="2340"/>
          </a:p>
        </p:txBody>
      </p:sp>
      <p:sp>
        <p:nvSpPr>
          <p:cNvPr id="244" name="Google Shape;244;p24"/>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245" name="Google Shape;245;p24"/>
          <p:cNvSpPr txBox="1"/>
          <p:nvPr/>
        </p:nvSpPr>
        <p:spPr>
          <a:xfrm>
            <a:off x="748225" y="1389850"/>
            <a:ext cx="3675000" cy="4273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46" name="Google Shape;246;p24"/>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247" name="Google Shape;247;p24"/>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248" name="Google Shape;248;p24"/>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249" name="Google Shape;249;p24"/>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250" name="Google Shape;250;p24"/>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251" name="Google Shape;251;p24"/>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252" name="Google Shape;252;p24"/>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3" name="Google Shape;253;p24"/>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4" name="Google Shape;254;p24"/>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5" name="Google Shape;255;p24"/>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6" name="Google Shape;256;p24"/>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7" name="Google Shape;257;p24"/>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58" name="Google Shape;258;p24"/>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59" name="Google Shape;259;p24"/>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0" name="Google Shape;260;p24"/>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1" name="Google Shape;261;p24"/>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2" name="Google Shape;262;p24"/>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263" name="Google Shape;263;p24"/>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r>
            </a:tbl>
          </a:graphicData>
        </a:graphic>
      </p:graphicFrame>
      <p:sp>
        <p:nvSpPr>
          <p:cNvPr id="264" name="Google Shape;264;p24"/>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65" name="Google Shape;265;p24"/>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7" name="Google Shape;267;p24"/>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
        <p:nvSpPr>
          <p:cNvPr id="2" name="文本框 1"/>
          <p:cNvSpPr txBox="1"/>
          <p:nvPr/>
        </p:nvSpPr>
        <p:spPr>
          <a:xfrm>
            <a:off x="825500" y="1950720"/>
            <a:ext cx="3597910" cy="1168400"/>
          </a:xfrm>
          <a:prstGeom prst="rect">
            <a:avLst/>
          </a:prstGeom>
          <a:noFill/>
        </p:spPr>
        <p:txBody>
          <a:bodyPr wrap="square" rtlCol="0">
            <a:spAutoFit/>
          </a:bodyPr>
          <a:p>
            <a:r>
              <a:rPr lang="en-US" altLang="zh-CN" b="1">
                <a:solidFill>
                  <a:schemeClr val="bg2"/>
                </a:solidFill>
              </a:rPr>
              <a:t>i</a:t>
            </a:r>
            <a:r>
              <a:rPr lang="en-US" altLang="zh-CN">
                <a:solidFill>
                  <a:schemeClr val="bg2"/>
                </a:solidFill>
              </a:rPr>
              <a:t> is defined as the index of the current node in the array(or heap)</a:t>
            </a:r>
            <a:endParaRPr lang="en-US" altLang="zh-CN">
              <a:solidFill>
                <a:schemeClr val="bg2"/>
              </a:solidFill>
            </a:endParaRPr>
          </a:p>
          <a:p>
            <a:endParaRPr lang="en-US" altLang="zh-CN">
              <a:solidFill>
                <a:schemeClr val="bg2"/>
              </a:solidFill>
            </a:endParaRPr>
          </a:p>
          <a:p>
            <a:r>
              <a:rPr lang="en-US" altLang="zh-CN">
                <a:solidFill>
                  <a:schemeClr val="bg2"/>
                </a:solidFill>
              </a:rPr>
              <a:t>Left child index: 2 * i</a:t>
            </a:r>
            <a:endParaRPr lang="en-US" altLang="zh-CN">
              <a:solidFill>
                <a:schemeClr val="bg2"/>
              </a:solidFill>
            </a:endParaRPr>
          </a:p>
          <a:p>
            <a:r>
              <a:rPr lang="en-US" altLang="zh-CN">
                <a:solidFill>
                  <a:schemeClr val="bg2"/>
                </a:solidFill>
              </a:rPr>
              <a:t>Right child index: 2 * i + 1</a:t>
            </a:r>
            <a:endParaRPr lang="en-US" altLang="zh-CN">
              <a:solidFill>
                <a:schemeClr val="bg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88" name="Shape 188"/>
        <p:cNvGrpSpPr/>
        <p:nvPr/>
      </p:nvGrpSpPr>
      <p:grpSpPr>
        <a:xfrm>
          <a:off x="0" y="0"/>
          <a:ext cx="0" cy="0"/>
          <a:chOff x="0" y="0"/>
          <a:chExt cx="0" cy="0"/>
        </a:xfrm>
      </p:grpSpPr>
      <p:sp>
        <p:nvSpPr>
          <p:cNvPr id="189" name="Google Shape;189;p20"/>
          <p:cNvSpPr txBox="1"/>
          <p:nvPr>
            <p:ph type="title"/>
          </p:nvPr>
        </p:nvSpPr>
        <p:spPr>
          <a:xfrm>
            <a:off x="999275" y="626275"/>
            <a:ext cx="53490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Common Heap applications</a:t>
            </a:r>
            <a:endParaRPr sz="2940"/>
          </a:p>
        </p:txBody>
      </p:sp>
      <p:sp>
        <p:nvSpPr>
          <p:cNvPr id="190" name="Google Shape;190;p20"/>
          <p:cNvSpPr txBox="1"/>
          <p:nvPr>
            <p:ph type="body" idx="1"/>
          </p:nvPr>
        </p:nvSpPr>
        <p:spPr>
          <a:xfrm>
            <a:off x="143625" y="197650"/>
            <a:ext cx="186000" cy="312000"/>
          </a:xfrm>
          <a:prstGeom prst="rect">
            <a:avLst/>
          </a:prstGeom>
        </p:spPr>
        <p:txBody>
          <a:bodyPr spcFirstLastPara="1" wrap="square" lIns="91425" tIns="91425" rIns="91425" bIns="91425" anchor="t" anchorCtr="0">
            <a:normAutofit fontScale="62500"/>
          </a:bodyPr>
          <a:lstStyle/>
          <a:p>
            <a:pPr marL="0" lvl="0" indent="0" algn="l" rtl="0">
              <a:spcBef>
                <a:spcPts val="0"/>
              </a:spcBef>
              <a:spcAft>
                <a:spcPts val="1200"/>
              </a:spcAft>
              <a:buNone/>
            </a:pPr>
          </a:p>
        </p:txBody>
      </p:sp>
      <p:sp>
        <p:nvSpPr>
          <p:cNvPr id="191" name="Google Shape;191;p20"/>
          <p:cNvSpPr txBox="1"/>
          <p:nvPr/>
        </p:nvSpPr>
        <p:spPr>
          <a:xfrm>
            <a:off x="1105800" y="1595300"/>
            <a:ext cx="5501100" cy="2511000"/>
          </a:xfrm>
          <a:prstGeom prst="rect">
            <a:avLst/>
          </a:prstGeom>
          <a:noFill/>
          <a:ln>
            <a:noFill/>
          </a:ln>
        </p:spPr>
        <p:txBody>
          <a:bodyPr spcFirstLastPara="1" wrap="square" lIns="91425" tIns="91425" rIns="91425" bIns="91425" anchor="t" anchorCtr="0">
            <a:noAutofit/>
          </a:bodyPr>
          <a:lstStyle/>
          <a:p>
            <a:pPr marL="457200" lvl="0" indent="-400050" algn="l" rtl="0">
              <a:spcBef>
                <a:spcPts val="0"/>
              </a:spcBef>
              <a:spcAft>
                <a:spcPts val="0"/>
              </a:spcAft>
              <a:buSzPts val="2700"/>
              <a:buChar char="●"/>
            </a:pPr>
            <a:r>
              <a:rPr lang="en-US" altLang="zh-CN" sz="2700">
                <a:solidFill>
                  <a:schemeClr val="accent1"/>
                </a:solidFill>
                <a:latin typeface="Lato" panose="020F0502020204030203"/>
                <a:ea typeface="Lato" panose="020F0502020204030203"/>
                <a:cs typeface="Lato" panose="020F0502020204030203"/>
                <a:sym typeface="Lato" panose="020F0502020204030203"/>
              </a:rPr>
              <a:t>OS Task Scheduling</a:t>
            </a:r>
            <a:endParaRPr lang="en-US" altLang="zh-CN" sz="2700">
              <a:solidFill>
                <a:schemeClr val="accent1"/>
              </a:solidFill>
              <a:latin typeface="Lato" panose="020F0502020204030203"/>
              <a:ea typeface="Lato" panose="020F0502020204030203"/>
              <a:cs typeface="Lato" panose="020F0502020204030203"/>
              <a:sym typeface="Lato" panose="020F0502020204030203"/>
            </a:endParaRPr>
          </a:p>
          <a:p>
            <a:pPr marL="457200" lvl="0" indent="-400050" algn="l" rtl="0">
              <a:spcBef>
                <a:spcPts val="0"/>
              </a:spcBef>
              <a:spcAft>
                <a:spcPts val="0"/>
              </a:spcAft>
              <a:buClr>
                <a:schemeClr val="dk2"/>
              </a:buClr>
              <a:buSzPts val="2700"/>
              <a:buFont typeface="Lato" panose="020F0502020204030203"/>
              <a:buChar char="●"/>
            </a:pPr>
            <a:r>
              <a:rPr lang="zh-CN" sz="2700">
                <a:solidFill>
                  <a:schemeClr val="accent1"/>
                </a:solidFill>
                <a:latin typeface="Lato" panose="020F0502020204030203"/>
                <a:ea typeface="Lato" panose="020F0502020204030203"/>
                <a:cs typeface="Lato" panose="020F0502020204030203"/>
                <a:sym typeface="Lato" panose="020F0502020204030203"/>
              </a:rPr>
              <a:t>Heap sort</a:t>
            </a:r>
            <a:endParaRPr sz="2700">
              <a:solidFill>
                <a:schemeClr val="accent1"/>
              </a:solidFill>
              <a:latin typeface="Lato" panose="020F0502020204030203"/>
              <a:ea typeface="Lato" panose="020F0502020204030203"/>
              <a:cs typeface="Lato" panose="020F0502020204030203"/>
              <a:sym typeface="Lato" panose="020F0502020204030203"/>
            </a:endParaRPr>
          </a:p>
          <a:p>
            <a:pPr marL="457200" lvl="0" indent="-400050" algn="l" rtl="0">
              <a:spcBef>
                <a:spcPts val="0"/>
              </a:spcBef>
              <a:spcAft>
                <a:spcPts val="0"/>
              </a:spcAft>
              <a:buClr>
                <a:schemeClr val="dk2"/>
              </a:buClr>
              <a:buSzPts val="2700"/>
              <a:buFont typeface="Lato" panose="020F0502020204030203"/>
              <a:buChar char="●"/>
            </a:pPr>
            <a:r>
              <a:rPr lang="zh-CN" sz="2700">
                <a:solidFill>
                  <a:schemeClr val="accent1"/>
                </a:solidFill>
                <a:latin typeface="Lato" panose="020F0502020204030203"/>
                <a:ea typeface="Lato" panose="020F0502020204030203"/>
                <a:cs typeface="Lato" panose="020F0502020204030203"/>
                <a:sym typeface="Lato" panose="020F0502020204030203"/>
              </a:rPr>
              <a:t>Top-K problem</a:t>
            </a:r>
            <a:endParaRPr sz="2700">
              <a:solidFill>
                <a:schemeClr val="accent1"/>
              </a:solidFill>
              <a:latin typeface="Lato" panose="020F0502020204030203"/>
              <a:ea typeface="Lato" panose="020F0502020204030203"/>
              <a:cs typeface="Lato" panose="020F0502020204030203"/>
              <a:sym typeface="Lato" panose="020F0502020204030203"/>
            </a:endParaRPr>
          </a:p>
          <a:p>
            <a:pPr marL="457200" lvl="0" indent="-400050" algn="l" rtl="0">
              <a:spcBef>
                <a:spcPts val="0"/>
              </a:spcBef>
              <a:spcAft>
                <a:spcPts val="0"/>
              </a:spcAft>
              <a:buClr>
                <a:schemeClr val="dk2"/>
              </a:buClr>
              <a:buSzPts val="2700"/>
              <a:buFont typeface="Lato" panose="020F0502020204030203"/>
              <a:buChar char="●"/>
            </a:pPr>
            <a:r>
              <a:rPr lang="en-US" altLang="zh-CN" sz="2700">
                <a:solidFill>
                  <a:schemeClr val="accent1"/>
                </a:solidFill>
                <a:latin typeface="Lato" panose="020F0502020204030203"/>
                <a:ea typeface="Lato" panose="020F0502020204030203"/>
                <a:cs typeface="Lato" panose="020F0502020204030203"/>
                <a:sym typeface="Lato" panose="020F0502020204030203"/>
              </a:rPr>
              <a:t>Graph Algorithms</a:t>
            </a:r>
            <a:endParaRPr lang="en-US" altLang="zh-CN" sz="27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95" name="Shape 195"/>
        <p:cNvGrpSpPr/>
        <p:nvPr/>
      </p:nvGrpSpPr>
      <p:grpSpPr>
        <a:xfrm>
          <a:off x="0" y="0"/>
          <a:ext cx="0" cy="0"/>
          <a:chOff x="0" y="0"/>
          <a:chExt cx="0" cy="0"/>
        </a:xfrm>
      </p:grpSpPr>
      <p:sp>
        <p:nvSpPr>
          <p:cNvPr id="196" name="Google Shape;196;p21"/>
          <p:cNvSpPr txBox="1"/>
          <p:nvPr>
            <p:ph type="title"/>
          </p:nvPr>
        </p:nvSpPr>
        <p:spPr>
          <a:xfrm>
            <a:off x="999275" y="626275"/>
            <a:ext cx="53490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Common Heap applications</a:t>
            </a:r>
            <a:endParaRPr sz="2940"/>
          </a:p>
        </p:txBody>
      </p:sp>
      <p:sp>
        <p:nvSpPr>
          <p:cNvPr id="197" name="Google Shape;197;p21"/>
          <p:cNvSpPr txBox="1"/>
          <p:nvPr>
            <p:ph type="body" idx="1"/>
          </p:nvPr>
        </p:nvSpPr>
        <p:spPr>
          <a:xfrm>
            <a:off x="143625" y="197650"/>
            <a:ext cx="186000" cy="312000"/>
          </a:xfrm>
          <a:prstGeom prst="rect">
            <a:avLst/>
          </a:prstGeom>
        </p:spPr>
        <p:txBody>
          <a:bodyPr spcFirstLastPara="1" wrap="square" lIns="91425" tIns="91425" rIns="91425" bIns="91425" anchor="t" anchorCtr="0">
            <a:normAutofit fontScale="62500"/>
          </a:bodyPr>
          <a:lstStyle/>
          <a:p>
            <a:pPr marL="0" lvl="0" indent="0" algn="l" rtl="0">
              <a:spcBef>
                <a:spcPts val="0"/>
              </a:spcBef>
              <a:spcAft>
                <a:spcPts val="1200"/>
              </a:spcAft>
              <a:buNone/>
            </a:pPr>
          </a:p>
        </p:txBody>
      </p:sp>
      <p:sp>
        <p:nvSpPr>
          <p:cNvPr id="198" name="Google Shape;198;p21"/>
          <p:cNvSpPr txBox="1"/>
          <p:nvPr/>
        </p:nvSpPr>
        <p:spPr>
          <a:xfrm>
            <a:off x="1105800" y="1595300"/>
            <a:ext cx="5501100" cy="2511000"/>
          </a:xfrm>
          <a:prstGeom prst="rect">
            <a:avLst/>
          </a:prstGeom>
          <a:noFill/>
          <a:ln>
            <a:noFill/>
          </a:ln>
        </p:spPr>
        <p:txBody>
          <a:bodyPr spcFirstLastPara="1" wrap="square" lIns="91425" tIns="91425" rIns="91425" bIns="91425" anchor="t" anchorCtr="0">
            <a:noAutofit/>
          </a:bodyPr>
          <a:lstStyle/>
          <a:p>
            <a:pPr marL="457200" lvl="0" indent="-400050" algn="l" rtl="0">
              <a:spcBef>
                <a:spcPts val="0"/>
              </a:spcBef>
              <a:spcAft>
                <a:spcPts val="0"/>
              </a:spcAft>
              <a:buClr>
                <a:srgbClr val="B7B7B7"/>
              </a:buClr>
              <a:buSzPts val="2700"/>
              <a:buChar char="●"/>
            </a:pPr>
            <a:r>
              <a:rPr lang="en-US" altLang="zh-CN" sz="2700">
                <a:solidFill>
                  <a:srgbClr val="B7B7B7"/>
                </a:solidFill>
                <a:latin typeface="Lato" panose="020F0502020204030203"/>
                <a:ea typeface="Lato" panose="020F0502020204030203"/>
                <a:cs typeface="Lato" panose="020F0502020204030203"/>
                <a:sym typeface="Lato" panose="020F0502020204030203"/>
              </a:rPr>
              <a:t>OS Task Scheduling</a:t>
            </a:r>
            <a:endParaRPr lang="en-US" altLang="zh-CN" sz="2700">
              <a:solidFill>
                <a:srgbClr val="B7B7B7"/>
              </a:solidFill>
              <a:latin typeface="Lato" panose="020F0502020204030203"/>
              <a:ea typeface="Lato" panose="020F0502020204030203"/>
              <a:cs typeface="Lato" panose="020F0502020204030203"/>
              <a:sym typeface="Lato" panose="020F0502020204030203"/>
            </a:endParaRPr>
          </a:p>
          <a:p>
            <a:pPr marL="457200" lvl="0" indent="-400050" algn="l" rtl="0">
              <a:spcBef>
                <a:spcPts val="0"/>
              </a:spcBef>
              <a:spcAft>
                <a:spcPts val="0"/>
              </a:spcAft>
              <a:buClr>
                <a:schemeClr val="dk2"/>
              </a:buClr>
              <a:buSzPts val="2700"/>
              <a:buFont typeface="Lato" panose="020F0502020204030203"/>
              <a:buChar char="●"/>
            </a:pPr>
            <a:r>
              <a:rPr lang="zh-CN" sz="2700">
                <a:solidFill>
                  <a:schemeClr val="accent1"/>
                </a:solidFill>
                <a:latin typeface="Lato" panose="020F0502020204030203"/>
                <a:ea typeface="Lato" panose="020F0502020204030203"/>
                <a:cs typeface="Lato" panose="020F0502020204030203"/>
                <a:sym typeface="Lato" panose="020F0502020204030203"/>
              </a:rPr>
              <a:t>Heap sort</a:t>
            </a:r>
            <a:endParaRPr sz="2700">
              <a:solidFill>
                <a:schemeClr val="accent1"/>
              </a:solidFill>
              <a:latin typeface="Lato" panose="020F0502020204030203"/>
              <a:ea typeface="Lato" panose="020F0502020204030203"/>
              <a:cs typeface="Lato" panose="020F0502020204030203"/>
              <a:sym typeface="Lato" panose="020F0502020204030203"/>
            </a:endParaRPr>
          </a:p>
          <a:p>
            <a:pPr marL="457200" lvl="0" indent="-400050" algn="l" rtl="0">
              <a:spcBef>
                <a:spcPts val="0"/>
              </a:spcBef>
              <a:spcAft>
                <a:spcPts val="0"/>
              </a:spcAft>
              <a:buClr>
                <a:srgbClr val="B7B7B7"/>
              </a:buClr>
              <a:buSzPts val="2700"/>
              <a:buFont typeface="Lato" panose="020F0502020204030203"/>
              <a:buChar char="●"/>
            </a:pPr>
            <a:r>
              <a:rPr lang="zh-CN" sz="2700">
                <a:solidFill>
                  <a:srgbClr val="B7B7B7"/>
                </a:solidFill>
                <a:latin typeface="Lato" panose="020F0502020204030203"/>
                <a:ea typeface="Lato" panose="020F0502020204030203"/>
                <a:cs typeface="Lato" panose="020F0502020204030203"/>
                <a:sym typeface="Lato" panose="020F0502020204030203"/>
              </a:rPr>
              <a:t>Top-K problem</a:t>
            </a:r>
            <a:endParaRPr sz="2700">
              <a:solidFill>
                <a:srgbClr val="B7B7B7"/>
              </a:solidFill>
              <a:latin typeface="Lato" panose="020F0502020204030203"/>
              <a:ea typeface="Lato" panose="020F0502020204030203"/>
              <a:cs typeface="Lato" panose="020F0502020204030203"/>
              <a:sym typeface="Lato" panose="020F0502020204030203"/>
            </a:endParaRPr>
          </a:p>
          <a:p>
            <a:pPr marL="457200" lvl="0" indent="-400050" algn="l" rtl="0">
              <a:spcBef>
                <a:spcPts val="0"/>
              </a:spcBef>
              <a:spcAft>
                <a:spcPts val="0"/>
              </a:spcAft>
              <a:buClr>
                <a:srgbClr val="B7B7B7"/>
              </a:buClr>
              <a:buSzPts val="2700"/>
              <a:buFont typeface="Lato" panose="020F0502020204030203"/>
              <a:buChar char="●"/>
            </a:pPr>
            <a:r>
              <a:rPr lang="en-US" altLang="zh-CN" sz="2700">
                <a:solidFill>
                  <a:srgbClr val="B7B7B7"/>
                </a:solidFill>
                <a:latin typeface="Lato" panose="020F0502020204030203"/>
                <a:ea typeface="Lato" panose="020F0502020204030203"/>
                <a:cs typeface="Lato" panose="020F0502020204030203"/>
                <a:sym typeface="Lato" panose="020F0502020204030203"/>
              </a:rPr>
              <a:t>Graph Algorithms</a:t>
            </a:r>
            <a:endParaRPr lang="en-US" altLang="zh-CN" sz="2700">
              <a:solidFill>
                <a:srgbClr val="B7B7B7"/>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2" name="Shape 202"/>
        <p:cNvGrpSpPr/>
        <p:nvPr/>
      </p:nvGrpSpPr>
      <p:grpSpPr>
        <a:xfrm>
          <a:off x="0" y="0"/>
          <a:ext cx="0" cy="0"/>
          <a:chOff x="0" y="0"/>
          <a:chExt cx="0" cy="0"/>
        </a:xfrm>
      </p:grpSpPr>
      <p:sp>
        <p:nvSpPr>
          <p:cNvPr id="203" name="Google Shape;203;p22"/>
          <p:cNvSpPr txBox="1"/>
          <p:nvPr>
            <p:ph type="title"/>
          </p:nvPr>
        </p:nvSpPr>
        <p:spPr>
          <a:xfrm>
            <a:off x="3380825" y="519750"/>
            <a:ext cx="2282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Heap Sort</a:t>
            </a:r>
            <a:endParaRPr sz="2940"/>
          </a:p>
        </p:txBody>
      </p:sp>
      <p:sp>
        <p:nvSpPr>
          <p:cNvPr id="204" name="Google Shape;204;p22"/>
          <p:cNvSpPr txBox="1"/>
          <p:nvPr>
            <p:ph type="body" idx="1"/>
          </p:nvPr>
        </p:nvSpPr>
        <p:spPr>
          <a:xfrm>
            <a:off x="1813425" y="2284325"/>
            <a:ext cx="5775000" cy="1814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zh-CN" sz="1900"/>
              <a:t>Definition: First assemble the numbers into a heap, and then continuously take out the “largest (or smallest)” elements one by one from the top of the heap to form an ordered array</a:t>
            </a:r>
            <a:endParaRPr sz="1900"/>
          </a:p>
        </p:txBody>
      </p:sp>
      <p:sp>
        <p:nvSpPr>
          <p:cNvPr id="205" name="Google Shape;205;p22"/>
          <p:cNvSpPr/>
          <p:nvPr/>
        </p:nvSpPr>
        <p:spPr>
          <a:xfrm>
            <a:off x="1463400" y="1458350"/>
            <a:ext cx="1696800" cy="684900"/>
          </a:xfrm>
          <a:prstGeom prst="wedgeRoundRectCallout">
            <a:avLst>
              <a:gd name="adj1" fmla="val -20833"/>
              <a:gd name="adj2" fmla="val 62500"/>
              <a:gd name="adj3" fmla="val 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r>
              <a:rPr lang="zh-CN" sz="1300">
                <a:solidFill>
                  <a:schemeClr val="accent1"/>
                </a:solidFill>
                <a:latin typeface="Lato" panose="020F0502020204030203"/>
                <a:ea typeface="Lato" panose="020F0502020204030203"/>
                <a:cs typeface="Lato" panose="020F0502020204030203"/>
                <a:sym typeface="Lato" panose="020F0502020204030203"/>
              </a:rPr>
              <a:t>What is Heap Sort?</a:t>
            </a:r>
            <a:endParaRPr sz="13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2723515" y="609600"/>
            <a:ext cx="3696970" cy="535305"/>
          </a:xfrm>
        </p:spPr>
        <p:txBody>
          <a:bodyPr>
            <a:normAutofit fontScale="90000"/>
          </a:bodyPr>
          <a:p>
            <a:r>
              <a:rPr lang="en-US" altLang="zh-CN" sz="3265"/>
              <a:t>Steps of Heap Sort</a:t>
            </a:r>
            <a:endParaRPr lang="en-US" altLang="zh-CN" sz="3265"/>
          </a:p>
        </p:txBody>
      </p:sp>
      <p:sp>
        <p:nvSpPr>
          <p:cNvPr id="3" name="文本占位符 2"/>
          <p:cNvSpPr/>
          <p:nvPr>
            <p:ph type="body" idx="1"/>
          </p:nvPr>
        </p:nvSpPr>
        <p:spPr>
          <a:xfrm>
            <a:off x="1629410" y="1494790"/>
            <a:ext cx="4364355" cy="2261235"/>
          </a:xfrm>
        </p:spPr>
        <p:txBody>
          <a:bodyPr/>
          <a:p>
            <a:pPr>
              <a:buFont typeface="Wingdings" panose="05000000000000000000" charset="0"/>
              <a:buChar char="l"/>
            </a:pPr>
            <a:r>
              <a:rPr lang="en-US" altLang="zh-CN" sz="2400"/>
              <a:t>Build heap </a:t>
            </a:r>
            <a:endParaRPr lang="en-US" altLang="zh-CN" sz="2400"/>
          </a:p>
          <a:p>
            <a:pPr>
              <a:buFont typeface="Wingdings" panose="05000000000000000000" charset="0"/>
              <a:buChar char="l"/>
            </a:pPr>
            <a:r>
              <a:rPr lang="en-US" altLang="zh-CN" sz="2400"/>
              <a:t>Swap</a:t>
            </a:r>
            <a:endParaRPr lang="en-US" altLang="zh-CN" sz="2400"/>
          </a:p>
          <a:p>
            <a:pPr>
              <a:buFont typeface="Wingdings" panose="05000000000000000000" charset="0"/>
              <a:buChar char="l"/>
            </a:pPr>
            <a:r>
              <a:rPr lang="en-US" altLang="zh-CN" sz="2400"/>
              <a:t>Heapify</a:t>
            </a:r>
            <a:endParaRPr lang="en-US" altLang="zh-CN"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42" name="Shape 242"/>
        <p:cNvGrpSpPr/>
        <p:nvPr/>
      </p:nvGrpSpPr>
      <p:grpSpPr>
        <a:xfrm>
          <a:off x="0" y="0"/>
          <a:ext cx="0" cy="0"/>
          <a:chOff x="0" y="0"/>
          <a:chExt cx="0" cy="0"/>
        </a:xfrm>
      </p:grpSpPr>
      <p:sp>
        <p:nvSpPr>
          <p:cNvPr id="243" name="Google Shape;243;p24"/>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910">
                <a:latin typeface="Lato" panose="020F0502020204030203"/>
                <a:ea typeface="Lato" panose="020F0502020204030203"/>
                <a:cs typeface="Lato" panose="020F0502020204030203"/>
                <a:sym typeface="Lato" panose="020F0502020204030203"/>
              </a:rPr>
              <a:t>Bulid heap</a:t>
            </a:r>
            <a:endParaRPr sz="2910">
              <a:latin typeface="Lato" panose="020F0502020204030203"/>
              <a:ea typeface="Lato" panose="020F0502020204030203"/>
              <a:cs typeface="Lato" panose="020F0502020204030203"/>
              <a:sym typeface="Lato" panose="020F0502020204030203"/>
            </a:endParaRPr>
          </a:p>
          <a:p>
            <a:pPr marL="0" lvl="0" indent="0" algn="ctr" rtl="0">
              <a:spcBef>
                <a:spcPts val="0"/>
              </a:spcBef>
              <a:spcAft>
                <a:spcPts val="0"/>
              </a:spcAft>
              <a:buSzPts val="990"/>
              <a:buNone/>
            </a:pPr>
            <a:endParaRPr sz="2340"/>
          </a:p>
        </p:txBody>
      </p:sp>
      <p:sp>
        <p:nvSpPr>
          <p:cNvPr id="244" name="Google Shape;244;p24"/>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245" name="Google Shape;245;p24"/>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raverse the non-leaf nodes of the heapin</a:t>
            </a:r>
            <a:r>
              <a:rPr lang="en-US" altLang="zh-CN" sz="1300">
                <a:solidFill>
                  <a:schemeClr val="accent1"/>
                </a:solidFill>
                <a:latin typeface="Lato" panose="020F0502020204030203"/>
                <a:ea typeface="Lato" panose="020F0502020204030203"/>
                <a:cs typeface="Lato" panose="020F0502020204030203"/>
                <a:sym typeface="Lato" panose="020F0502020204030203"/>
              </a:rPr>
              <a:t>g</a:t>
            </a:r>
            <a:r>
              <a:rPr lang="zh-CN" sz="1300">
                <a:solidFill>
                  <a:schemeClr val="accent1"/>
                </a:solidFill>
                <a:latin typeface="Lato" panose="020F0502020204030203"/>
                <a:ea typeface="Lato" panose="020F0502020204030203"/>
                <a:cs typeface="Lato" panose="020F0502020204030203"/>
                <a:sym typeface="Lato" panose="020F0502020204030203"/>
              </a:rPr>
              <a:t> reverse.</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46" name="Google Shape;246;p24"/>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247" name="Google Shape;247;p24"/>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248" name="Google Shape;248;p24"/>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249" name="Google Shape;249;p24"/>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250" name="Google Shape;250;p24"/>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251" name="Google Shape;251;p24"/>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252" name="Google Shape;252;p24"/>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3" name="Google Shape;253;p24"/>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4" name="Google Shape;254;p24"/>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5" name="Google Shape;255;p24"/>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6" name="Google Shape;256;p24"/>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57" name="Google Shape;257;p24"/>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58" name="Google Shape;258;p24"/>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59" name="Google Shape;259;p24"/>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0" name="Google Shape;260;p24"/>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1" name="Google Shape;261;p24"/>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2" name="Google Shape;262;p24"/>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263" name="Google Shape;263;p24"/>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r>
            </a:tbl>
          </a:graphicData>
        </a:graphic>
      </p:graphicFrame>
      <p:sp>
        <p:nvSpPr>
          <p:cNvPr id="264" name="Google Shape;264;p24"/>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65" name="Google Shape;265;p24"/>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66" name="Google Shape;266;p24"/>
          <p:cNvSpPr txBox="1"/>
          <p:nvPr/>
        </p:nvSpPr>
        <p:spPr>
          <a:xfrm>
            <a:off x="778350" y="2341725"/>
            <a:ext cx="3218400" cy="142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each non-leaf node from button to top, and from right to left</a:t>
            </a:r>
            <a:endParaRPr sz="1300">
              <a:solidFill>
                <a:srgbClr val="FF9900"/>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rgbClr val="FF0000"/>
                </a:solidFill>
                <a:latin typeface="Lato" panose="020F0502020204030203"/>
                <a:ea typeface="Lato" panose="020F0502020204030203"/>
                <a:cs typeface="Lato" panose="020F0502020204030203"/>
                <a:sym typeface="Lato" panose="020F0502020204030203"/>
              </a:rPr>
              <a:t>***During the process of heap sort exchange satisfying the heap property, this node with a large difference from itself for exchange</a:t>
            </a:r>
            <a:r>
              <a:rPr lang="zh-CN" sz="1300">
                <a:solidFill>
                  <a:srgbClr val="FF9900"/>
                </a:solidFill>
                <a:latin typeface="Lato" panose="020F0502020204030203"/>
                <a:ea typeface="Lato" panose="020F0502020204030203"/>
                <a:cs typeface="Lato" panose="020F0502020204030203"/>
                <a:sym typeface="Lato" panose="020F0502020204030203"/>
              </a:rPr>
              <a:t> </a:t>
            </a:r>
            <a:endParaRPr sz="1300">
              <a:solidFill>
                <a:srgbClr val="FF9900"/>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267" name="Google Shape;267;p24"/>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71" name="Shape 271"/>
        <p:cNvGrpSpPr/>
        <p:nvPr/>
      </p:nvGrpSpPr>
      <p:grpSpPr>
        <a:xfrm>
          <a:off x="0" y="0"/>
          <a:ext cx="0" cy="0"/>
          <a:chOff x="0" y="0"/>
          <a:chExt cx="0" cy="0"/>
        </a:xfrm>
      </p:grpSpPr>
      <p:sp>
        <p:nvSpPr>
          <p:cNvPr id="272" name="Google Shape;272;p25"/>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910">
                <a:latin typeface="Lato" panose="020F0502020204030203"/>
                <a:ea typeface="Lato" panose="020F0502020204030203"/>
                <a:cs typeface="Lato" panose="020F0502020204030203"/>
                <a:sym typeface="Lato" panose="020F0502020204030203"/>
              </a:rPr>
              <a:t>Build heap</a:t>
            </a:r>
            <a:endParaRPr lang="en-US" sz="2340"/>
          </a:p>
        </p:txBody>
      </p:sp>
      <p:sp>
        <p:nvSpPr>
          <p:cNvPr id="273" name="Google Shape;273;p25"/>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274" name="Google Shape;274;p25"/>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raverse the non-leaf nodes of the heapin reverse.</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75" name="Google Shape;275;p25"/>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276" name="Google Shape;276;p25"/>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277" name="Google Shape;277;p25"/>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278" name="Google Shape;278;p25"/>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279" name="Google Shape;279;p25"/>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280" name="Google Shape;280;p25"/>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281" name="Google Shape;281;p25"/>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82" name="Google Shape;282;p25"/>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83" name="Google Shape;283;p25"/>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84" name="Google Shape;284;p25"/>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85" name="Google Shape;285;p25"/>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86" name="Google Shape;286;p25"/>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87" name="Google Shape;287;p25"/>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88" name="Google Shape;288;p25"/>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89" name="Google Shape;289;p25"/>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90" name="Google Shape;290;p25"/>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91" name="Google Shape;291;p25"/>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292" name="Google Shape;292;p25"/>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r>
            </a:tbl>
          </a:graphicData>
        </a:graphic>
      </p:graphicFrame>
      <p:sp>
        <p:nvSpPr>
          <p:cNvPr id="293" name="Google Shape;293;p25"/>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294" name="Google Shape;294;p25"/>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295" name="Google Shape;295;p25"/>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each non-leaf node from button to top, and from right to left</a:t>
            </a:r>
            <a:endParaRPr sz="1300">
              <a:solidFill>
                <a:srgbClr val="FF9900"/>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296" name="Google Shape;296;p25"/>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00" name="Shape 300"/>
        <p:cNvGrpSpPr/>
        <p:nvPr/>
      </p:nvGrpSpPr>
      <p:grpSpPr>
        <a:xfrm>
          <a:off x="0" y="0"/>
          <a:ext cx="0" cy="0"/>
          <a:chOff x="0" y="0"/>
          <a:chExt cx="0" cy="0"/>
        </a:xfrm>
      </p:grpSpPr>
      <p:sp>
        <p:nvSpPr>
          <p:cNvPr id="301" name="Google Shape;301;p26"/>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910">
                <a:latin typeface="Lato" panose="020F0502020204030203"/>
                <a:ea typeface="Lato" panose="020F0502020204030203"/>
                <a:cs typeface="Lato" panose="020F0502020204030203"/>
                <a:sym typeface="Lato" panose="020F0502020204030203"/>
              </a:rPr>
              <a:t>Build heap</a:t>
            </a:r>
            <a:endParaRPr sz="2910">
              <a:latin typeface="Lato" panose="020F0502020204030203"/>
              <a:ea typeface="Lato" panose="020F0502020204030203"/>
              <a:cs typeface="Lato" panose="020F0502020204030203"/>
              <a:sym typeface="Lato" panose="020F0502020204030203"/>
            </a:endParaRPr>
          </a:p>
          <a:p>
            <a:pPr marL="0" lvl="0" indent="0" algn="ctr" rtl="0">
              <a:spcBef>
                <a:spcPts val="0"/>
              </a:spcBef>
              <a:spcAft>
                <a:spcPts val="0"/>
              </a:spcAft>
              <a:buSzPts val="990"/>
              <a:buNone/>
            </a:pPr>
            <a:endParaRPr sz="2340"/>
          </a:p>
        </p:txBody>
      </p:sp>
      <p:sp>
        <p:nvSpPr>
          <p:cNvPr id="302" name="Google Shape;302;p26"/>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303" name="Google Shape;303;p26"/>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raverse the non-leaf nodes of the heapin reverse.</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04" name="Google Shape;304;p26"/>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305" name="Google Shape;305;p26"/>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306" name="Google Shape;306;p26"/>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307" name="Google Shape;307;p26"/>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308" name="Google Shape;308;p26"/>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309" name="Google Shape;309;p26"/>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310" name="Google Shape;310;p26"/>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11" name="Google Shape;311;p26"/>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12" name="Google Shape;312;p26"/>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13" name="Google Shape;313;p26"/>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14" name="Google Shape;314;p26"/>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15" name="Google Shape;315;p26"/>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16" name="Google Shape;316;p26"/>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17" name="Google Shape;317;p26"/>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18" name="Google Shape;318;p26"/>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19" name="Google Shape;319;p26"/>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20" name="Google Shape;320;p26"/>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321" name="Google Shape;321;p26"/>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r>
            </a:tbl>
          </a:graphicData>
        </a:graphic>
      </p:graphicFrame>
      <p:sp>
        <p:nvSpPr>
          <p:cNvPr id="322" name="Google Shape;322;p26"/>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23" name="Google Shape;323;p26"/>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24" name="Google Shape;324;p26"/>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each non-leaf node from button to top, and from right to left</a:t>
            </a:r>
            <a:endParaRPr sz="1300">
              <a:solidFill>
                <a:srgbClr val="FF9900"/>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325" name="Google Shape;325;p26"/>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329" name="Shape 329"/>
        <p:cNvGrpSpPr/>
        <p:nvPr/>
      </p:nvGrpSpPr>
      <p:grpSpPr>
        <a:xfrm>
          <a:off x="0" y="0"/>
          <a:ext cx="0" cy="0"/>
          <a:chOff x="0" y="0"/>
          <a:chExt cx="0" cy="0"/>
        </a:xfrm>
      </p:grpSpPr>
      <p:sp>
        <p:nvSpPr>
          <p:cNvPr id="330" name="Google Shape;330;p27"/>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910">
                <a:latin typeface="Lato" panose="020F0502020204030203"/>
                <a:ea typeface="Lato" panose="020F0502020204030203"/>
                <a:cs typeface="Lato" panose="020F0502020204030203"/>
                <a:sym typeface="Lato" panose="020F0502020204030203"/>
              </a:rPr>
              <a:t>Build heap</a:t>
            </a:r>
            <a:endParaRPr lang="en-US" sz="2340"/>
          </a:p>
        </p:txBody>
      </p:sp>
      <p:sp>
        <p:nvSpPr>
          <p:cNvPr id="331" name="Google Shape;331;p27"/>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332" name="Google Shape;332;p27"/>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raverse the non-leaf nodes of the heapin reverse.</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33" name="Google Shape;333;p27"/>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334" name="Google Shape;334;p27"/>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335" name="Google Shape;335;p27"/>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336" name="Google Shape;336;p27"/>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337" name="Google Shape;337;p27"/>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338" name="Google Shape;338;p27"/>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339" name="Google Shape;339;p27"/>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40" name="Google Shape;340;p27"/>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41" name="Google Shape;341;p27"/>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42" name="Google Shape;342;p27"/>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43" name="Google Shape;343;p27"/>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44" name="Google Shape;344;p27"/>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45" name="Google Shape;345;p27"/>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46" name="Google Shape;346;p27"/>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47" name="Google Shape;347;p27"/>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48" name="Google Shape;348;p27"/>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49" name="Google Shape;349;p27"/>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350" name="Google Shape;350;p27"/>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r>
            </a:tbl>
          </a:graphicData>
        </a:graphic>
      </p:graphicFrame>
      <p:sp>
        <p:nvSpPr>
          <p:cNvPr id="351" name="Google Shape;351;p27"/>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52" name="Google Shape;352;p27"/>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53" name="Google Shape;353;p27"/>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each non-leaf node from button to top, and from right to left</a:t>
            </a:r>
            <a:endParaRPr sz="1300">
              <a:solidFill>
                <a:srgbClr val="FF9900"/>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354" name="Google Shape;354;p27"/>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358" name="Shape 358"/>
        <p:cNvGrpSpPr/>
        <p:nvPr/>
      </p:nvGrpSpPr>
      <p:grpSpPr>
        <a:xfrm>
          <a:off x="0" y="0"/>
          <a:ext cx="0" cy="0"/>
          <a:chOff x="0" y="0"/>
          <a:chExt cx="0" cy="0"/>
        </a:xfrm>
      </p:grpSpPr>
      <p:sp>
        <p:nvSpPr>
          <p:cNvPr id="359" name="Google Shape;359;p28"/>
          <p:cNvSpPr txBox="1"/>
          <p:nvPr>
            <p:ph type="title"/>
          </p:nvPr>
        </p:nvSpPr>
        <p:spPr>
          <a:xfrm>
            <a:off x="1705610" y="603250"/>
            <a:ext cx="5986145" cy="5353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10">
                <a:latin typeface="Lato" panose="020F0502020204030203"/>
                <a:ea typeface="Lato" panose="020F0502020204030203"/>
                <a:cs typeface="Lato" panose="020F0502020204030203"/>
                <a:sym typeface="Lato" panose="020F0502020204030203"/>
              </a:rPr>
              <a:t>The time complexity of </a:t>
            </a:r>
            <a:r>
              <a:rPr lang="en-US" altLang="zh-CN" sz="2910">
                <a:latin typeface="Lato" panose="020F0502020204030203"/>
                <a:ea typeface="Lato" panose="020F0502020204030203"/>
                <a:cs typeface="Lato" panose="020F0502020204030203"/>
                <a:sym typeface="Lato" panose="020F0502020204030203"/>
              </a:rPr>
              <a:t>Build heap</a:t>
            </a:r>
            <a:endParaRPr sz="291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SzPts val="990"/>
              <a:buNone/>
            </a:pPr>
            <a:endParaRPr sz="2340"/>
          </a:p>
        </p:txBody>
      </p:sp>
      <p:sp>
        <p:nvSpPr>
          <p:cNvPr id="360" name="Google Shape;360;p28"/>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361" name="Google Shape;361;p28"/>
          <p:cNvSpPr txBox="1"/>
          <p:nvPr/>
        </p:nvSpPr>
        <p:spPr>
          <a:xfrm>
            <a:off x="748030" y="1176655"/>
            <a:ext cx="5848985" cy="6737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Non-leaf node’s(index) range is 1 ~ </a:t>
            </a:r>
            <a:r>
              <a:rPr lang="en-US" altLang="zh-CN" sz="1600" b="1">
                <a:solidFill>
                  <a:schemeClr val="accent1"/>
                </a:solidFill>
                <a:latin typeface="Lato" panose="020F0502020204030203"/>
                <a:ea typeface="Lato" panose="020F0502020204030203"/>
                <a:cs typeface="Lato" panose="020F0502020204030203"/>
                <a:sym typeface="Lato" panose="020F0502020204030203"/>
              </a:rPr>
              <a:t>[</a:t>
            </a:r>
            <a:r>
              <a:rPr lang="zh-CN" sz="1600" b="1">
                <a:solidFill>
                  <a:schemeClr val="accent1"/>
                </a:solidFill>
                <a:latin typeface="Lato" panose="020F0502020204030203"/>
                <a:ea typeface="Lato" panose="020F0502020204030203"/>
                <a:cs typeface="Lato" panose="020F0502020204030203"/>
                <a:sym typeface="Lato" panose="020F0502020204030203"/>
              </a:rPr>
              <a:t>(n // 2)</a:t>
            </a:r>
            <a:r>
              <a:rPr lang="en-US" altLang="zh-CN" sz="1600" b="1">
                <a:solidFill>
                  <a:schemeClr val="accent1"/>
                </a:solidFill>
                <a:latin typeface="Lato" panose="020F0502020204030203"/>
                <a:ea typeface="Lato" panose="020F0502020204030203"/>
                <a:cs typeface="Lato" panose="020F0502020204030203"/>
                <a:sym typeface="Lato" panose="020F0502020204030203"/>
              </a:rPr>
              <a:t>]</a:t>
            </a:r>
            <a:r>
              <a:rPr lang="zh-CN" sz="1600" b="1">
                <a:solidFill>
                  <a:schemeClr val="accent1"/>
                </a:solidFill>
                <a:latin typeface="Lato" panose="020F0502020204030203"/>
                <a:ea typeface="Lato" panose="020F0502020204030203"/>
                <a:cs typeface="Lato" panose="020F0502020204030203"/>
                <a:sym typeface="Lato" panose="020F0502020204030203"/>
              </a:rPr>
              <a:t>  (n is total amount) </a:t>
            </a:r>
            <a:endParaRPr sz="1600" b="1">
              <a:solidFill>
                <a:schemeClr val="accent1"/>
              </a:solidFill>
              <a:latin typeface="Lato" panose="020F0502020204030203"/>
              <a:ea typeface="Lato" panose="020F0502020204030203"/>
              <a:cs typeface="Lato" panose="020F0502020204030203"/>
              <a:sym typeface="Lato" panose="020F0502020204030203"/>
            </a:endParaRPr>
          </a:p>
        </p:txBody>
      </p:sp>
      <p:sp>
        <p:nvSpPr>
          <p:cNvPr id="362" name="Google Shape;362;p28"/>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363" name="Google Shape;363;p28"/>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364" name="Google Shape;364;p28"/>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365" name="Google Shape;365;p28"/>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366" name="Google Shape;366;p28"/>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367" name="Google Shape;367;p28"/>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368" name="Google Shape;368;p28"/>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69" name="Google Shape;369;p28"/>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70" name="Google Shape;370;p28"/>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71" name="Google Shape;371;p28"/>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72" name="Google Shape;372;p28"/>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73" name="Google Shape;373;p28"/>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74" name="Google Shape;374;p28"/>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75" name="Google Shape;375;p28"/>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76" name="Google Shape;376;p28"/>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77" name="Google Shape;377;p28"/>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78" name="Google Shape;378;p28"/>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379" name="Google Shape;379;p28"/>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r>
            </a:tbl>
          </a:graphicData>
        </a:graphic>
      </p:graphicFrame>
      <p:sp>
        <p:nvSpPr>
          <p:cNvPr id="380" name="Google Shape;380;p28"/>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81" name="Google Shape;381;p28"/>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82" name="Google Shape;382;p28"/>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graphicFrame>
        <p:nvGraphicFramePr>
          <p:cNvPr id="383" name="Google Shape;383;p28"/>
          <p:cNvGraphicFramePr/>
          <p:nvPr/>
        </p:nvGraphicFramePr>
        <p:xfrm>
          <a:off x="669400" y="1892025"/>
          <a:ext cx="3902600" cy="3000000"/>
        </p:xfrm>
        <a:graphic>
          <a:graphicData uri="http://schemas.openxmlformats.org/drawingml/2006/table">
            <a:tbl>
              <a:tblPr>
                <a:noFill/>
                <a:tableStyleId>{B85B4C50-FAD5-47BA-BD73-6CF19DB52098}</a:tableStyleId>
              </a:tblPr>
              <a:tblGrid>
                <a:gridCol w="975650"/>
                <a:gridCol w="975650"/>
                <a:gridCol w="975650"/>
                <a:gridCol w="975650"/>
              </a:tblGrid>
              <a:tr h="371325">
                <a:tc>
                  <a:txBody>
                    <a:bodyPr/>
                    <a:lstStyle/>
                    <a:p>
                      <a:pPr marL="0" lvl="0" indent="0" algn="ctr" rtl="0">
                        <a:spcBef>
                          <a:spcPts val="0"/>
                        </a:spcBef>
                        <a:spcAft>
                          <a:spcPts val="0"/>
                        </a:spcAft>
                        <a:buNone/>
                      </a:pPr>
                      <a:r>
                        <a:rPr lang="zh-CN"/>
                        <a:t>Node</a:t>
                      </a:r>
                      <a:endParaRPr lang="zh-CN"/>
                    </a:p>
                  </a:txBody>
                  <a:tcPr marL="91425" marR="91425" marT="91425" marB="91425"/>
                </a:tc>
                <a:tc>
                  <a:txBody>
                    <a:bodyPr/>
                    <a:lstStyle/>
                    <a:p>
                      <a:pPr marL="0" lvl="0" indent="0" algn="ctr" rtl="0">
                        <a:spcBef>
                          <a:spcPts val="0"/>
                        </a:spcBef>
                        <a:spcAft>
                          <a:spcPts val="0"/>
                        </a:spcAft>
                        <a:buNone/>
                      </a:pPr>
                      <a:r>
                        <a:rPr lang="zh-CN"/>
                        <a:t>Compare</a:t>
                      </a:r>
                      <a:endParaRPr lang="zh-CN"/>
                    </a:p>
                  </a:txBody>
                  <a:tcPr marL="91425" marR="91425" marT="91425" marB="91425"/>
                </a:tc>
                <a:tc>
                  <a:txBody>
                    <a:bodyPr/>
                    <a:lstStyle/>
                    <a:p>
                      <a:pPr marL="0" lvl="0" indent="0" algn="ctr" rtl="0">
                        <a:spcBef>
                          <a:spcPts val="0"/>
                        </a:spcBef>
                        <a:spcAft>
                          <a:spcPts val="0"/>
                        </a:spcAft>
                        <a:buNone/>
                      </a:pPr>
                      <a:r>
                        <a:rPr lang="zh-CN"/>
                        <a:t>Exchange</a:t>
                      </a:r>
                      <a:endParaRPr lang="zh-CN"/>
                    </a:p>
                  </a:txBody>
                  <a:tcPr marL="91425" marR="91425" marT="91425" marB="91425"/>
                </a:tc>
                <a:tc>
                  <a:txBody>
                    <a:bodyPr/>
                    <a:lstStyle/>
                    <a:p>
                      <a:pPr marL="0" lvl="0" indent="0" algn="ctr" rtl="0">
                        <a:spcBef>
                          <a:spcPts val="0"/>
                        </a:spcBef>
                        <a:spcAft>
                          <a:spcPts val="0"/>
                        </a:spcAft>
                        <a:buNone/>
                      </a:pPr>
                      <a:r>
                        <a:rPr lang="zh-CN"/>
                        <a:t>Total</a:t>
                      </a:r>
                      <a:endParaRPr lang="zh-CN"/>
                    </a:p>
                  </a:txBody>
                  <a:tcPr marL="91425" marR="91425" marT="91425" marB="91425"/>
                </a:tc>
              </a:tr>
              <a:tr h="369225">
                <a:tc>
                  <a:txBody>
                    <a:bodyPr/>
                    <a:lstStyle/>
                    <a:p>
                      <a:pPr marL="0" lvl="0" indent="0" algn="ctr" rtl="0">
                        <a:spcBef>
                          <a:spcPts val="0"/>
                        </a:spcBef>
                        <a:spcAft>
                          <a:spcPts val="0"/>
                        </a:spcAft>
                        <a:buNone/>
                      </a:pPr>
                      <a:r>
                        <a:rPr lang="zh-CN"/>
                        <a:t>Node 3</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r>
              <a:tr h="369225">
                <a:tc>
                  <a:txBody>
                    <a:bodyPr/>
                    <a:lstStyle/>
                    <a:p>
                      <a:pPr marL="0" lvl="0" indent="0" algn="ctr" rtl="0">
                        <a:spcBef>
                          <a:spcPts val="0"/>
                        </a:spcBef>
                        <a:spcAft>
                          <a:spcPts val="0"/>
                        </a:spcAft>
                        <a:buNone/>
                      </a:pPr>
                      <a:r>
                        <a:rPr lang="zh-CN"/>
                        <a:t>Node 2</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r>
              <a:tr h="369225">
                <a:tc>
                  <a:txBody>
                    <a:bodyPr/>
                    <a:lstStyle/>
                    <a:p>
                      <a:pPr marL="0" lvl="0" indent="0" algn="ctr" rtl="0">
                        <a:spcBef>
                          <a:spcPts val="0"/>
                        </a:spcBef>
                        <a:spcAft>
                          <a:spcPts val="0"/>
                        </a:spcAft>
                        <a:buNone/>
                      </a:pPr>
                      <a:r>
                        <a:rPr lang="zh-CN"/>
                        <a:t>Node 1</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r>
            </a:tbl>
          </a:graphicData>
        </a:graphic>
      </p:graphicFrame>
      <p:sp>
        <p:nvSpPr>
          <p:cNvPr id="384" name="Google Shape;384;p28"/>
          <p:cNvSpPr txBox="1"/>
          <p:nvPr/>
        </p:nvSpPr>
        <p:spPr>
          <a:xfrm>
            <a:off x="3609075" y="3520300"/>
            <a:ext cx="10044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a:t>
            </a:r>
            <a:r>
              <a:rPr lang="zh-CN" sz="1300" b="1">
                <a:solidFill>
                  <a:schemeClr val="accent1"/>
                </a:solidFill>
                <a:latin typeface="Lato" panose="020F0502020204030203"/>
                <a:ea typeface="Lato" panose="020F0502020204030203"/>
                <a:cs typeface="Lato" panose="020F0502020204030203"/>
                <a:sym typeface="Lato" panose="020F0502020204030203"/>
              </a:rPr>
              <a:t> </a:t>
            </a:r>
            <a:r>
              <a:rPr lang="zh-CN" sz="1300" b="1">
                <a:solidFill>
                  <a:schemeClr val="dk2"/>
                </a:solidFill>
                <a:latin typeface="Lato" panose="020F0502020204030203"/>
                <a:ea typeface="Lato" panose="020F0502020204030203"/>
                <a:cs typeface="Lato" panose="020F0502020204030203"/>
                <a:sym typeface="Lato" panose="020F0502020204030203"/>
              </a:rPr>
              <a:t>8</a:t>
            </a:r>
            <a:endParaRPr sz="1300" b="1">
              <a:solidFill>
                <a:schemeClr val="dk2"/>
              </a:solidFill>
              <a:latin typeface="Lato" panose="020F0502020204030203"/>
              <a:ea typeface="Lato" panose="020F0502020204030203"/>
              <a:cs typeface="Lato" panose="020F0502020204030203"/>
              <a:sym typeface="Lato" panose="020F0502020204030203"/>
            </a:endParaRPr>
          </a:p>
        </p:txBody>
      </p:sp>
      <p:sp>
        <p:nvSpPr>
          <p:cNvPr id="385" name="Google Shape;385;p28"/>
          <p:cNvSpPr/>
          <p:nvPr/>
        </p:nvSpPr>
        <p:spPr>
          <a:xfrm>
            <a:off x="3593850" y="3482250"/>
            <a:ext cx="978300" cy="396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387" name="Google Shape;387;p28"/>
          <p:cNvSpPr txBox="1"/>
          <p:nvPr/>
        </p:nvSpPr>
        <p:spPr>
          <a:xfrm>
            <a:off x="288900" y="3543125"/>
            <a:ext cx="2430000" cy="47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Asymptotic Complexity:  </a:t>
            </a:r>
            <a:r>
              <a:rPr lang="zh-CN" b="1">
                <a:solidFill>
                  <a:schemeClr val="dk2"/>
                </a:solidFill>
                <a:latin typeface="Lato" panose="020F0502020204030203"/>
                <a:ea typeface="Lato" panose="020F0502020204030203"/>
                <a:cs typeface="Lato" panose="020F0502020204030203"/>
                <a:sym typeface="Lato" panose="020F0502020204030203"/>
              </a:rPr>
              <a:t>O(n)</a:t>
            </a:r>
            <a:endParaRPr b="1">
              <a:solidFill>
                <a:schemeClr val="dk2"/>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391" name="Shape 391"/>
        <p:cNvGrpSpPr/>
        <p:nvPr/>
      </p:nvGrpSpPr>
      <p:grpSpPr>
        <a:xfrm>
          <a:off x="0" y="0"/>
          <a:ext cx="0" cy="0"/>
          <a:chOff x="0" y="0"/>
          <a:chExt cx="0" cy="0"/>
        </a:xfrm>
      </p:grpSpPr>
      <p:sp>
        <p:nvSpPr>
          <p:cNvPr id="392" name="Google Shape;392;p29"/>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ctr" rtl="0">
              <a:spcBef>
                <a:spcPts val="0"/>
              </a:spcBef>
              <a:spcAft>
                <a:spcPts val="0"/>
              </a:spcAft>
              <a:buSzPts val="990"/>
              <a:buNone/>
            </a:pPr>
            <a:endParaRPr sz="2340"/>
          </a:p>
        </p:txBody>
      </p:sp>
      <p:sp>
        <p:nvSpPr>
          <p:cNvPr id="393" name="Google Shape;393;p29"/>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394" name="Google Shape;394;p29"/>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395" name="Google Shape;395;p29"/>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396" name="Google Shape;396;p29"/>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397" name="Google Shape;397;p29"/>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398" name="Google Shape;398;p29"/>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399" name="Google Shape;399;p29"/>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400" name="Google Shape;400;p29"/>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401" name="Google Shape;401;p29"/>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02" name="Google Shape;402;p29"/>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03" name="Google Shape;403;p29"/>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04" name="Google Shape;404;p29"/>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05" name="Google Shape;405;p29"/>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06" name="Google Shape;406;p29"/>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07" name="Google Shape;407;p29"/>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08" name="Google Shape;408;p29"/>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09" name="Google Shape;409;p29"/>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10" name="Google Shape;410;p29"/>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11" name="Google Shape;411;p29"/>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412" name="Google Shape;412;p29"/>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r>
            </a:tbl>
          </a:graphicData>
        </a:graphic>
      </p:graphicFrame>
      <p:sp>
        <p:nvSpPr>
          <p:cNvPr id="413" name="Google Shape;413;p29"/>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14" name="Google Shape;414;p29"/>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15" name="Google Shape;415;p29"/>
          <p:cNvSpPr txBox="1"/>
          <p:nvPr/>
        </p:nvSpPr>
        <p:spPr>
          <a:xfrm>
            <a:off x="778350" y="2398400"/>
            <a:ext cx="3218400" cy="155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rgbClr val="FF0000"/>
                </a:solidFill>
                <a:latin typeface="Lato" panose="020F0502020204030203"/>
                <a:ea typeface="Lato" panose="020F0502020204030203"/>
                <a:cs typeface="Lato" panose="020F0502020204030203"/>
                <a:sym typeface="Lato" panose="020F0502020204030203"/>
              </a:rPr>
              <a:t>***During the process of heap sort exchange satisfying the heap property, this node with a large difference from itself for exchange</a:t>
            </a:r>
            <a:r>
              <a:rPr lang="zh-CN" sz="1300">
                <a:solidFill>
                  <a:srgbClr val="FF9900"/>
                </a:solidFill>
                <a:latin typeface="Lato" panose="020F0502020204030203"/>
                <a:ea typeface="Lato" panose="020F0502020204030203"/>
                <a:cs typeface="Lato" panose="020F0502020204030203"/>
                <a:sym typeface="Lato" panose="020F0502020204030203"/>
              </a:rPr>
              <a:t> </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416" name="Google Shape;416;p29"/>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420" name="Shape 420"/>
        <p:cNvGrpSpPr/>
        <p:nvPr/>
      </p:nvGrpSpPr>
      <p:grpSpPr>
        <a:xfrm>
          <a:off x="0" y="0"/>
          <a:ext cx="0" cy="0"/>
          <a:chOff x="0" y="0"/>
          <a:chExt cx="0" cy="0"/>
        </a:xfrm>
      </p:grpSpPr>
      <p:sp>
        <p:nvSpPr>
          <p:cNvPr id="421" name="Google Shape;421;p30"/>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340"/>
          </a:p>
        </p:txBody>
      </p:sp>
      <p:sp>
        <p:nvSpPr>
          <p:cNvPr id="422" name="Google Shape;422;p30"/>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423" name="Google Shape;423;p30"/>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24" name="Google Shape;424;p30"/>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425" name="Google Shape;425;p30"/>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426" name="Google Shape;426;p30"/>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427" name="Google Shape;427;p30"/>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428" name="Google Shape;428;p30"/>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429" name="Google Shape;429;p30"/>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430" name="Google Shape;430;p30"/>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31" name="Google Shape;431;p30"/>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32" name="Google Shape;432;p30"/>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33" name="Google Shape;433;p30"/>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34" name="Google Shape;434;p30"/>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35" name="Google Shape;435;p30"/>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36" name="Google Shape;436;p30"/>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37" name="Google Shape;437;p30"/>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38" name="Google Shape;438;p30"/>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39" name="Google Shape;439;p30"/>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440" name="Google Shape;440;p30"/>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441" name="Google Shape;441;p30"/>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42" name="Google Shape;442;p30"/>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43" name="Google Shape;443;p30"/>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444" name="Google Shape;444;p30"/>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448" name="Shape 448"/>
        <p:cNvGrpSpPr/>
        <p:nvPr/>
      </p:nvGrpSpPr>
      <p:grpSpPr>
        <a:xfrm>
          <a:off x="0" y="0"/>
          <a:ext cx="0" cy="0"/>
          <a:chOff x="0" y="0"/>
          <a:chExt cx="0" cy="0"/>
        </a:xfrm>
      </p:grpSpPr>
      <p:sp>
        <p:nvSpPr>
          <p:cNvPr id="449" name="Google Shape;449;p31"/>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ctr" rtl="0">
              <a:spcBef>
                <a:spcPts val="0"/>
              </a:spcBef>
              <a:spcAft>
                <a:spcPts val="0"/>
              </a:spcAft>
              <a:buSzPts val="990"/>
              <a:buNone/>
            </a:pPr>
            <a:endParaRPr sz="2340"/>
          </a:p>
        </p:txBody>
      </p:sp>
      <p:sp>
        <p:nvSpPr>
          <p:cNvPr id="450" name="Google Shape;450;p31"/>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451" name="Google Shape;451;p31"/>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52" name="Google Shape;452;p31"/>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453" name="Google Shape;453;p31"/>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454" name="Google Shape;454;p31"/>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455" name="Google Shape;455;p31"/>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456" name="Google Shape;456;p31"/>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457" name="Google Shape;457;p31"/>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458" name="Google Shape;458;p31"/>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59" name="Google Shape;459;p31"/>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60" name="Google Shape;460;p31"/>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61" name="Google Shape;461;p31"/>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62" name="Google Shape;462;p31"/>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63" name="Google Shape;463;p31"/>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64" name="Google Shape;464;p31"/>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65" name="Google Shape;465;p31"/>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66" name="Google Shape;466;p31"/>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67" name="Google Shape;467;p31"/>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468" name="Google Shape;468;p31"/>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469" name="Google Shape;469;p31"/>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70" name="Google Shape;470;p31"/>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71" name="Google Shape;471;p31"/>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472" name="Google Shape;472;p31"/>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476" name="Shape 476"/>
        <p:cNvGrpSpPr/>
        <p:nvPr/>
      </p:nvGrpSpPr>
      <p:grpSpPr>
        <a:xfrm>
          <a:off x="0" y="0"/>
          <a:ext cx="0" cy="0"/>
          <a:chOff x="0" y="0"/>
          <a:chExt cx="0" cy="0"/>
        </a:xfrm>
      </p:grpSpPr>
      <p:sp>
        <p:nvSpPr>
          <p:cNvPr id="477" name="Google Shape;477;p32"/>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ctr" rtl="0">
              <a:spcBef>
                <a:spcPts val="0"/>
              </a:spcBef>
              <a:spcAft>
                <a:spcPts val="0"/>
              </a:spcAft>
              <a:buSzPts val="990"/>
              <a:buNone/>
            </a:pPr>
            <a:endParaRPr sz="2340"/>
          </a:p>
        </p:txBody>
      </p:sp>
      <p:sp>
        <p:nvSpPr>
          <p:cNvPr id="478" name="Google Shape;478;p32"/>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479" name="Google Shape;479;p32"/>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80" name="Google Shape;480;p32"/>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481" name="Google Shape;481;p32"/>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482" name="Google Shape;482;p32"/>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483" name="Google Shape;483;p32"/>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484" name="Google Shape;484;p32"/>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485" name="Google Shape;485;p32"/>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486" name="Google Shape;486;p32"/>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87" name="Google Shape;487;p32"/>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88" name="Google Shape;488;p32"/>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89" name="Google Shape;489;p32"/>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90" name="Google Shape;490;p32"/>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91" name="Google Shape;491;p32"/>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92" name="Google Shape;492;p32"/>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93" name="Google Shape;493;p32"/>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94" name="Google Shape;494;p32"/>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495" name="Google Shape;495;p32"/>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496" name="Google Shape;496;p32"/>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497" name="Google Shape;497;p32"/>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498" name="Google Shape;498;p32"/>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499" name="Google Shape;499;p32"/>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503" name="Shape 503"/>
        <p:cNvGrpSpPr/>
        <p:nvPr/>
      </p:nvGrpSpPr>
      <p:grpSpPr>
        <a:xfrm>
          <a:off x="0" y="0"/>
          <a:ext cx="0" cy="0"/>
          <a:chOff x="0" y="0"/>
          <a:chExt cx="0" cy="0"/>
        </a:xfrm>
      </p:grpSpPr>
      <p:sp>
        <p:nvSpPr>
          <p:cNvPr id="504" name="Google Shape;504;p33"/>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340"/>
          </a:p>
        </p:txBody>
      </p:sp>
      <p:sp>
        <p:nvSpPr>
          <p:cNvPr id="505" name="Google Shape;505;p33"/>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506" name="Google Shape;506;p33"/>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07" name="Google Shape;507;p33"/>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508" name="Google Shape;508;p33"/>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509" name="Google Shape;509;p33"/>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510" name="Google Shape;510;p33"/>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511" name="Google Shape;511;p33"/>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512" name="Google Shape;512;p33"/>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513" name="Google Shape;513;p33"/>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14" name="Google Shape;514;p33"/>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15" name="Google Shape;515;p33"/>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16" name="Google Shape;516;p33"/>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17" name="Google Shape;517;p33"/>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18" name="Google Shape;518;p33"/>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19" name="Google Shape;519;p33"/>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20" name="Google Shape;520;p33"/>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21" name="Google Shape;521;p33"/>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522" name="Google Shape;522;p33"/>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523" name="Google Shape;523;p33"/>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24" name="Google Shape;524;p33"/>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25" name="Google Shape;525;p33"/>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526" name="Google Shape;526;p33"/>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530" name="Shape 530"/>
        <p:cNvGrpSpPr/>
        <p:nvPr/>
      </p:nvGrpSpPr>
      <p:grpSpPr>
        <a:xfrm>
          <a:off x="0" y="0"/>
          <a:ext cx="0" cy="0"/>
          <a:chOff x="0" y="0"/>
          <a:chExt cx="0" cy="0"/>
        </a:xfrm>
      </p:grpSpPr>
      <p:sp>
        <p:nvSpPr>
          <p:cNvPr id="531" name="Google Shape;531;p34"/>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ctr" rtl="0">
              <a:spcBef>
                <a:spcPts val="0"/>
              </a:spcBef>
              <a:spcAft>
                <a:spcPts val="0"/>
              </a:spcAft>
              <a:buSzPts val="990"/>
              <a:buNone/>
            </a:pPr>
            <a:endParaRPr sz="2340"/>
          </a:p>
        </p:txBody>
      </p:sp>
      <p:sp>
        <p:nvSpPr>
          <p:cNvPr id="532" name="Google Shape;532;p34"/>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533" name="Google Shape;533;p34"/>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34" name="Google Shape;534;p34"/>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535" name="Google Shape;535;p34"/>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536" name="Google Shape;536;p34"/>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537" name="Google Shape;537;p34"/>
          <p:cNvSpPr/>
          <p:nvPr/>
        </p:nvSpPr>
        <p:spPr>
          <a:xfrm>
            <a:off x="4763825" y="32392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538" name="Google Shape;538;p34"/>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539" name="Google Shape;539;p34"/>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540" name="Google Shape;540;p34"/>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41" name="Google Shape;541;p34"/>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42" name="Google Shape;542;p34"/>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43" name="Google Shape;543;p34"/>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44" name="Google Shape;544;p34"/>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45" name="Google Shape;545;p34"/>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46" name="Google Shape;546;p34"/>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47" name="Google Shape;547;p34"/>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548" name="Google Shape;548;p34"/>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549" name="Google Shape;549;p34"/>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50" name="Google Shape;550;p34"/>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51" name="Google Shape;551;p34"/>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552" name="Google Shape;552;p34"/>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556" name="Shape 556"/>
        <p:cNvGrpSpPr/>
        <p:nvPr/>
      </p:nvGrpSpPr>
      <p:grpSpPr>
        <a:xfrm>
          <a:off x="0" y="0"/>
          <a:ext cx="0" cy="0"/>
          <a:chOff x="0" y="0"/>
          <a:chExt cx="0" cy="0"/>
        </a:xfrm>
      </p:grpSpPr>
      <p:sp>
        <p:nvSpPr>
          <p:cNvPr id="557" name="Google Shape;557;p35"/>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SzPts val="990"/>
              <a:buNone/>
            </a:pPr>
            <a:endParaRPr sz="2340"/>
          </a:p>
        </p:txBody>
      </p:sp>
      <p:sp>
        <p:nvSpPr>
          <p:cNvPr id="558" name="Google Shape;558;p35"/>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559" name="Google Shape;559;p35"/>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60" name="Google Shape;560;p35"/>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561" name="Google Shape;561;p35"/>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562" name="Google Shape;562;p35"/>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563" name="Google Shape;563;p35"/>
          <p:cNvSpPr/>
          <p:nvPr/>
        </p:nvSpPr>
        <p:spPr>
          <a:xfrm>
            <a:off x="4763825" y="32392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564" name="Google Shape;564;p35"/>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565" name="Google Shape;565;p35"/>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566" name="Google Shape;566;p35"/>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67" name="Google Shape;567;p35"/>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68" name="Google Shape;568;p35"/>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69" name="Google Shape;569;p35"/>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70" name="Google Shape;570;p35"/>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71" name="Google Shape;571;p35"/>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72" name="Google Shape;572;p35"/>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73" name="Google Shape;573;p35"/>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574" name="Google Shape;574;p35"/>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575" name="Google Shape;575;p35"/>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76" name="Google Shape;576;p35"/>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77" name="Google Shape;577;p35"/>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578" name="Google Shape;578;p35"/>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582" name="Shape 582"/>
        <p:cNvGrpSpPr/>
        <p:nvPr/>
      </p:nvGrpSpPr>
      <p:grpSpPr>
        <a:xfrm>
          <a:off x="0" y="0"/>
          <a:ext cx="0" cy="0"/>
          <a:chOff x="0" y="0"/>
          <a:chExt cx="0" cy="0"/>
        </a:xfrm>
      </p:grpSpPr>
      <p:sp>
        <p:nvSpPr>
          <p:cNvPr id="583" name="Google Shape;583;p36"/>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SzPts val="990"/>
              <a:buNone/>
            </a:pPr>
            <a:endParaRPr sz="2340"/>
          </a:p>
        </p:txBody>
      </p:sp>
      <p:sp>
        <p:nvSpPr>
          <p:cNvPr id="584" name="Google Shape;584;p36"/>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585" name="Google Shape;585;p36"/>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86" name="Google Shape;586;p36"/>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587" name="Google Shape;587;p36"/>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588" name="Google Shape;588;p36"/>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589" name="Google Shape;589;p36"/>
          <p:cNvSpPr/>
          <p:nvPr/>
        </p:nvSpPr>
        <p:spPr>
          <a:xfrm>
            <a:off x="4763825" y="32392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590" name="Google Shape;590;p36"/>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591" name="Google Shape;591;p36"/>
          <p:cNvSpPr/>
          <p:nvPr/>
        </p:nvSpPr>
        <p:spPr>
          <a:xfrm>
            <a:off x="7329325" y="216467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592" name="Google Shape;592;p36"/>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593" name="Google Shape;593;p36"/>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94" name="Google Shape;594;p36"/>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95" name="Google Shape;595;p36"/>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96" name="Google Shape;596;p36"/>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97" name="Google Shape;597;p36"/>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598" name="Google Shape;598;p36"/>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599" name="Google Shape;599;p36"/>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600" name="Google Shape;600;p36"/>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601" name="Google Shape;601;p36"/>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02" name="Google Shape;602;p36"/>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603" name="Google Shape;603;p36"/>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607" name="Shape 607"/>
        <p:cNvGrpSpPr/>
        <p:nvPr/>
      </p:nvGrpSpPr>
      <p:grpSpPr>
        <a:xfrm>
          <a:off x="0" y="0"/>
          <a:ext cx="0" cy="0"/>
          <a:chOff x="0" y="0"/>
          <a:chExt cx="0" cy="0"/>
        </a:xfrm>
      </p:grpSpPr>
      <p:sp>
        <p:nvSpPr>
          <p:cNvPr id="608" name="Google Shape;608;p37"/>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SzPts val="990"/>
              <a:buNone/>
            </a:pPr>
            <a:endParaRPr sz="2340"/>
          </a:p>
        </p:txBody>
      </p:sp>
      <p:sp>
        <p:nvSpPr>
          <p:cNvPr id="609" name="Google Shape;609;p37"/>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610" name="Google Shape;610;p37"/>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11" name="Google Shape;611;p37"/>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612" name="Google Shape;612;p37"/>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613" name="Google Shape;613;p37"/>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614" name="Google Shape;614;p37"/>
          <p:cNvSpPr/>
          <p:nvPr/>
        </p:nvSpPr>
        <p:spPr>
          <a:xfrm>
            <a:off x="4763825" y="32392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615" name="Google Shape;615;p37"/>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616" name="Google Shape;616;p37"/>
          <p:cNvSpPr/>
          <p:nvPr/>
        </p:nvSpPr>
        <p:spPr>
          <a:xfrm>
            <a:off x="7329325" y="216467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617" name="Google Shape;617;p37"/>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618" name="Google Shape;618;p37"/>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19" name="Google Shape;619;p37"/>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20" name="Google Shape;620;p37"/>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21" name="Google Shape;621;p37"/>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22" name="Google Shape;622;p37"/>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23" name="Google Shape;623;p37"/>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624" name="Google Shape;624;p37"/>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625" name="Google Shape;625;p37"/>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626" name="Google Shape;626;p37"/>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27" name="Google Shape;627;p37"/>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628" name="Google Shape;628;p37"/>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632" name="Shape 632"/>
        <p:cNvGrpSpPr/>
        <p:nvPr/>
      </p:nvGrpSpPr>
      <p:grpSpPr>
        <a:xfrm>
          <a:off x="0" y="0"/>
          <a:ext cx="0" cy="0"/>
          <a:chOff x="0" y="0"/>
          <a:chExt cx="0" cy="0"/>
        </a:xfrm>
      </p:grpSpPr>
      <p:sp>
        <p:nvSpPr>
          <p:cNvPr id="633" name="Google Shape;633;p38"/>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SzPts val="990"/>
              <a:buNone/>
            </a:pPr>
            <a:endParaRPr sz="2340"/>
          </a:p>
        </p:txBody>
      </p:sp>
      <p:sp>
        <p:nvSpPr>
          <p:cNvPr id="634" name="Google Shape;634;p38"/>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635" name="Google Shape;635;p38"/>
          <p:cNvSpPr txBox="1"/>
          <p:nvPr/>
        </p:nvSpPr>
        <p:spPr>
          <a:xfrm>
            <a:off x="748225" y="1389850"/>
            <a:ext cx="3675000" cy="10737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sz="1300">
                <a:solidFill>
                  <a:schemeClr val="accent1"/>
                </a:solidFill>
                <a:latin typeface="Lato" panose="020F0502020204030203"/>
                <a:ea typeface="Lato" panose="020F0502020204030203"/>
                <a:cs typeface="Lato" panose="020F0502020204030203"/>
                <a:sym typeface="Lato" panose="020F0502020204030203"/>
              </a:rPr>
              <a:t>T</a:t>
            </a:r>
            <a:r>
              <a:rPr lang="zh-CN" sz="1300">
                <a:solidFill>
                  <a:schemeClr val="accent1"/>
                </a:solidFill>
                <a:latin typeface="Lato" panose="020F0502020204030203"/>
                <a:ea typeface="Lato" panose="020F0502020204030203"/>
                <a:cs typeface="Lato" panose="020F0502020204030203"/>
                <a:sym typeface="Lato" panose="020F0502020204030203"/>
              </a:rPr>
              <a:t>he top element of the heap is removed from the heap</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36" name="Google Shape;636;p38"/>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637" name="Google Shape;637;p38"/>
          <p:cNvSpPr/>
          <p:nvPr/>
        </p:nvSpPr>
        <p:spPr>
          <a:xfrm>
            <a:off x="5590975" y="227880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638" name="Google Shape;638;p38"/>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639" name="Google Shape;639;p38"/>
          <p:cNvSpPr/>
          <p:nvPr/>
        </p:nvSpPr>
        <p:spPr>
          <a:xfrm>
            <a:off x="4763825" y="32392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640" name="Google Shape;640;p38"/>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641" name="Google Shape;641;p38"/>
          <p:cNvSpPr/>
          <p:nvPr/>
        </p:nvSpPr>
        <p:spPr>
          <a:xfrm>
            <a:off x="7329325" y="216467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642" name="Google Shape;642;p38"/>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43" name="Google Shape;643;p38"/>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44" name="Google Shape;644;p38"/>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45" name="Google Shape;645;p38"/>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46" name="Google Shape;646;p38"/>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47" name="Google Shape;647;p38"/>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648" name="Google Shape;648;p38"/>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649" name="Google Shape;649;p38"/>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650" name="Google Shape;650;p38"/>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51" name="Google Shape;651;p38"/>
          <p:cNvSpPr txBox="1"/>
          <p:nvPr/>
        </p:nvSpPr>
        <p:spPr>
          <a:xfrm>
            <a:off x="748225" y="2561600"/>
            <a:ext cx="3218400" cy="8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rgbClr val="FF9900"/>
                </a:solidFill>
                <a:latin typeface="Lato" panose="020F0502020204030203"/>
                <a:ea typeface="Lato" panose="020F0502020204030203"/>
                <a:cs typeface="Lato" panose="020F0502020204030203"/>
                <a:sym typeface="Lato" panose="020F0502020204030203"/>
              </a:rPr>
              <a:t>Heap popping means swapping the top element and the button element of the heap</a:t>
            </a:r>
            <a:endParaRPr sz="1300">
              <a:solidFill>
                <a:srgbClr val="FF9900"/>
              </a:solidFill>
              <a:latin typeface="Lato" panose="020F0502020204030203"/>
              <a:ea typeface="Lato" panose="020F0502020204030203"/>
              <a:cs typeface="Lato" panose="020F0502020204030203"/>
              <a:sym typeface="Lato" panose="020F0502020204030203"/>
            </a:endParaRPr>
          </a:p>
        </p:txBody>
      </p:sp>
      <p:sp>
        <p:nvSpPr>
          <p:cNvPr id="652" name="Google Shape;652;p38"/>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656" name="Shape 656"/>
        <p:cNvGrpSpPr/>
        <p:nvPr/>
      </p:nvGrpSpPr>
      <p:grpSpPr>
        <a:xfrm>
          <a:off x="0" y="0"/>
          <a:ext cx="0" cy="0"/>
          <a:chOff x="0" y="0"/>
          <a:chExt cx="0" cy="0"/>
        </a:xfrm>
      </p:grpSpPr>
      <p:sp>
        <p:nvSpPr>
          <p:cNvPr id="657" name="Google Shape;657;p39"/>
          <p:cNvSpPr txBox="1"/>
          <p:nvPr>
            <p:ph type="title"/>
          </p:nvPr>
        </p:nvSpPr>
        <p:spPr>
          <a:xfrm>
            <a:off x="1209675" y="603250"/>
            <a:ext cx="7238365" cy="5353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10">
                <a:latin typeface="Lato" panose="020F0502020204030203"/>
                <a:ea typeface="Lato" panose="020F0502020204030203"/>
                <a:cs typeface="Lato" panose="020F0502020204030203"/>
                <a:sym typeface="Lato" panose="020F0502020204030203"/>
              </a:rPr>
              <a:t>The time complexity of </a:t>
            </a:r>
            <a:r>
              <a:rPr lang="en-US" altLang="zh-CN" sz="2910">
                <a:latin typeface="Lato" panose="020F0502020204030203"/>
                <a:ea typeface="Lato" panose="020F0502020204030203"/>
                <a:cs typeface="Lato" panose="020F0502020204030203"/>
                <a:sym typeface="Lato" panose="020F0502020204030203"/>
              </a:rPr>
              <a:t>Swap and Heapify</a:t>
            </a:r>
            <a:endParaRPr sz="291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SzPts val="990"/>
              <a:buNone/>
            </a:pPr>
            <a:endParaRPr sz="2340"/>
          </a:p>
        </p:txBody>
      </p:sp>
      <p:sp>
        <p:nvSpPr>
          <p:cNvPr id="658" name="Google Shape;658;p39"/>
          <p:cNvSpPr txBox="1"/>
          <p:nvPr/>
        </p:nvSpPr>
        <p:spPr>
          <a:xfrm>
            <a:off x="748225" y="1138625"/>
            <a:ext cx="3675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59" name="Google Shape;659;p39"/>
          <p:cNvSpPr/>
          <p:nvPr/>
        </p:nvSpPr>
        <p:spPr>
          <a:xfrm>
            <a:off x="6412625" y="13049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660" name="Google Shape;660;p39"/>
          <p:cNvSpPr/>
          <p:nvPr/>
        </p:nvSpPr>
        <p:spPr>
          <a:xfrm>
            <a:off x="5590975" y="227880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661" name="Google Shape;661;p39"/>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662" name="Google Shape;662;p39"/>
          <p:cNvSpPr/>
          <p:nvPr/>
        </p:nvSpPr>
        <p:spPr>
          <a:xfrm>
            <a:off x="4763825" y="32392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663" name="Google Shape;663;p39"/>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664" name="Google Shape;664;p39"/>
          <p:cNvSpPr/>
          <p:nvPr/>
        </p:nvSpPr>
        <p:spPr>
          <a:xfrm>
            <a:off x="7329325" y="216467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665" name="Google Shape;665;p39"/>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66" name="Google Shape;666;p39"/>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67" name="Google Shape;667;p39"/>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68" name="Google Shape;668;p39"/>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69" name="Google Shape;669;p39"/>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70" name="Google Shape;670;p39"/>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671" name="Google Shape;671;p39"/>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672" name="Google Shape;672;p39"/>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673" name="Google Shape;673;p39"/>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74" name="Google Shape;674;p39"/>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graphicFrame>
        <p:nvGraphicFramePr>
          <p:cNvPr id="675" name="Google Shape;675;p39"/>
          <p:cNvGraphicFramePr/>
          <p:nvPr/>
        </p:nvGraphicFramePr>
        <p:xfrm>
          <a:off x="336175" y="1474575"/>
          <a:ext cx="4381900" cy="3000000"/>
        </p:xfrm>
        <a:graphic>
          <a:graphicData uri="http://schemas.openxmlformats.org/drawingml/2006/table">
            <a:tbl>
              <a:tblPr>
                <a:noFill/>
                <a:tableStyleId>{B85B4C50-FAD5-47BA-BD73-6CF19DB52098}</a:tableStyleId>
              </a:tblPr>
              <a:tblGrid>
                <a:gridCol w="1095475"/>
                <a:gridCol w="1095475"/>
                <a:gridCol w="1095475"/>
                <a:gridCol w="1095475"/>
              </a:tblGrid>
              <a:tr h="239325">
                <a:tc>
                  <a:txBody>
                    <a:bodyPr/>
                    <a:lstStyle/>
                    <a:p>
                      <a:pPr marL="0" lvl="0" indent="0" algn="ctr" rtl="0">
                        <a:spcBef>
                          <a:spcPts val="0"/>
                        </a:spcBef>
                        <a:spcAft>
                          <a:spcPts val="0"/>
                        </a:spcAft>
                        <a:buNone/>
                      </a:pPr>
                      <a:r>
                        <a:rPr lang="zh-CN" sz="1200"/>
                        <a:t>Pop-up times</a:t>
                      </a:r>
                      <a:endParaRPr sz="1200"/>
                    </a:p>
                  </a:txBody>
                  <a:tcPr marL="91425" marR="91425" marT="91425" marB="91425"/>
                </a:tc>
                <a:tc>
                  <a:txBody>
                    <a:bodyPr/>
                    <a:lstStyle/>
                    <a:p>
                      <a:pPr marL="0" lvl="0" indent="0" algn="ctr" rtl="0">
                        <a:spcBef>
                          <a:spcPts val="0"/>
                        </a:spcBef>
                        <a:spcAft>
                          <a:spcPts val="0"/>
                        </a:spcAft>
                        <a:buNone/>
                      </a:pPr>
                      <a:r>
                        <a:rPr lang="zh-CN" sz="1200"/>
                        <a:t>Compare</a:t>
                      </a:r>
                      <a:endParaRPr sz="1200"/>
                    </a:p>
                  </a:txBody>
                  <a:tcPr marL="91425" marR="91425" marT="91425" marB="91425"/>
                </a:tc>
                <a:tc>
                  <a:txBody>
                    <a:bodyPr/>
                    <a:lstStyle/>
                    <a:p>
                      <a:pPr marL="0" lvl="0" indent="0" algn="ctr" rtl="0">
                        <a:spcBef>
                          <a:spcPts val="0"/>
                        </a:spcBef>
                        <a:spcAft>
                          <a:spcPts val="0"/>
                        </a:spcAft>
                        <a:buNone/>
                      </a:pPr>
                      <a:r>
                        <a:rPr lang="zh-CN" sz="1200"/>
                        <a:t>Exchange</a:t>
                      </a:r>
                      <a:endParaRPr sz="1200"/>
                    </a:p>
                  </a:txBody>
                  <a:tcPr marL="91425" marR="91425" marT="91425" marB="91425"/>
                </a:tc>
                <a:tc>
                  <a:txBody>
                    <a:bodyPr/>
                    <a:lstStyle/>
                    <a:p>
                      <a:pPr marL="0" lvl="0" indent="0" algn="ctr" rtl="0">
                        <a:spcBef>
                          <a:spcPts val="0"/>
                        </a:spcBef>
                        <a:spcAft>
                          <a:spcPts val="0"/>
                        </a:spcAft>
                        <a:buNone/>
                      </a:pPr>
                      <a:r>
                        <a:rPr lang="zh-CN" sz="1200"/>
                        <a:t>Total</a:t>
                      </a:r>
                      <a:endParaRPr sz="1200"/>
                    </a:p>
                  </a:txBody>
                  <a:tcPr marL="91425" marR="91425" marT="91425" marB="91425"/>
                </a:tc>
              </a:tr>
              <a:tr h="239325">
                <a:tc>
                  <a:txBody>
                    <a:bodyPr/>
                    <a:lstStyle/>
                    <a:p>
                      <a:pPr marL="0" lvl="0" indent="0" algn="ctr" rtl="0">
                        <a:spcBef>
                          <a:spcPts val="0"/>
                        </a:spcBef>
                        <a:spcAft>
                          <a:spcPts val="0"/>
                        </a:spcAft>
                        <a:buNone/>
                      </a:pPr>
                      <a:r>
                        <a:rPr lang="zh-CN" sz="1200"/>
                        <a:t>1</a:t>
                      </a:r>
                      <a:endParaRPr sz="1200"/>
                    </a:p>
                  </a:txBody>
                  <a:tcPr marL="91425" marR="91425" marT="91425" marB="91425"/>
                </a:tc>
                <a:tc>
                  <a:txBody>
                    <a:bodyPr/>
                    <a:lstStyle/>
                    <a:p>
                      <a:pPr marL="0" lvl="0" indent="0" algn="ctr" rtl="0">
                        <a:spcBef>
                          <a:spcPts val="0"/>
                        </a:spcBef>
                        <a:spcAft>
                          <a:spcPts val="0"/>
                        </a:spcAft>
                        <a:buNone/>
                      </a:pPr>
                      <a:r>
                        <a:rPr lang="zh-CN" sz="1200"/>
                        <a:t>2</a:t>
                      </a:r>
                      <a:endParaRPr sz="1200"/>
                    </a:p>
                  </a:txBody>
                  <a:tcPr marL="91425" marR="91425" marT="91425" marB="91425"/>
                </a:tc>
                <a:tc>
                  <a:txBody>
                    <a:bodyPr/>
                    <a:lstStyle/>
                    <a:p>
                      <a:pPr marL="0" lvl="0" indent="0" algn="ctr" rtl="0">
                        <a:spcBef>
                          <a:spcPts val="0"/>
                        </a:spcBef>
                        <a:spcAft>
                          <a:spcPts val="0"/>
                        </a:spcAft>
                        <a:buNone/>
                      </a:pPr>
                      <a:r>
                        <a:rPr lang="zh-CN" sz="1200"/>
                        <a:t>1</a:t>
                      </a:r>
                      <a:endParaRPr sz="1200"/>
                    </a:p>
                  </a:txBody>
                  <a:tcPr marL="91425" marR="91425" marT="91425" marB="91425"/>
                </a:tc>
                <a:tc>
                  <a:txBody>
                    <a:bodyPr/>
                    <a:lstStyle/>
                    <a:p>
                      <a:pPr marL="0" lvl="0" indent="0" algn="ctr" rtl="0">
                        <a:spcBef>
                          <a:spcPts val="0"/>
                        </a:spcBef>
                        <a:spcAft>
                          <a:spcPts val="0"/>
                        </a:spcAft>
                        <a:buNone/>
                      </a:pPr>
                      <a:r>
                        <a:rPr lang="zh-CN" sz="1200"/>
                        <a:t>3</a:t>
                      </a:r>
                      <a:endParaRPr sz="1200"/>
                    </a:p>
                  </a:txBody>
                  <a:tcPr marL="91425" marR="91425" marT="91425" marB="91425"/>
                </a:tc>
              </a:tr>
              <a:tr h="239325">
                <a:tc>
                  <a:txBody>
                    <a:bodyPr/>
                    <a:lstStyle/>
                    <a:p>
                      <a:pPr marL="0" lvl="0" indent="0" algn="ctr" rtl="0">
                        <a:spcBef>
                          <a:spcPts val="0"/>
                        </a:spcBef>
                        <a:spcAft>
                          <a:spcPts val="0"/>
                        </a:spcAft>
                        <a:buNone/>
                      </a:pPr>
                      <a:r>
                        <a:rPr lang="zh-CN" sz="1200"/>
                        <a:t>2</a:t>
                      </a:r>
                      <a:endParaRPr sz="1200"/>
                    </a:p>
                  </a:txBody>
                  <a:tcPr marL="91425" marR="91425" marT="91425" marB="91425"/>
                </a:tc>
                <a:tc>
                  <a:txBody>
                    <a:bodyPr/>
                    <a:lstStyle/>
                    <a:p>
                      <a:pPr marL="0" lvl="0" indent="0" algn="ctr" rtl="0">
                        <a:spcBef>
                          <a:spcPts val="0"/>
                        </a:spcBef>
                        <a:spcAft>
                          <a:spcPts val="0"/>
                        </a:spcAft>
                        <a:buNone/>
                      </a:pPr>
                      <a:r>
                        <a:rPr lang="zh-CN" sz="1200"/>
                        <a:t>2</a:t>
                      </a:r>
                      <a:endParaRPr sz="1200"/>
                    </a:p>
                  </a:txBody>
                  <a:tcPr marL="91425" marR="91425" marT="91425" marB="91425"/>
                </a:tc>
                <a:tc>
                  <a:txBody>
                    <a:bodyPr/>
                    <a:lstStyle/>
                    <a:p>
                      <a:pPr marL="0" lvl="0" indent="0" algn="ctr" rtl="0">
                        <a:spcBef>
                          <a:spcPts val="0"/>
                        </a:spcBef>
                        <a:spcAft>
                          <a:spcPts val="0"/>
                        </a:spcAft>
                        <a:buNone/>
                      </a:pPr>
                      <a:r>
                        <a:rPr lang="zh-CN" sz="1200"/>
                        <a:t>1</a:t>
                      </a:r>
                      <a:endParaRPr sz="1200"/>
                    </a:p>
                  </a:txBody>
                  <a:tcPr marL="91425" marR="91425" marT="91425" marB="91425"/>
                </a:tc>
                <a:tc>
                  <a:txBody>
                    <a:bodyPr/>
                    <a:lstStyle/>
                    <a:p>
                      <a:pPr marL="0" lvl="0" indent="0" algn="ctr" rtl="0">
                        <a:spcBef>
                          <a:spcPts val="0"/>
                        </a:spcBef>
                        <a:spcAft>
                          <a:spcPts val="0"/>
                        </a:spcAft>
                        <a:buNone/>
                      </a:pPr>
                      <a:r>
                        <a:rPr lang="zh-CN" sz="1200"/>
                        <a:t>3</a:t>
                      </a:r>
                      <a:endParaRPr sz="1200"/>
                    </a:p>
                  </a:txBody>
                  <a:tcPr marL="91425" marR="91425" marT="91425" marB="91425"/>
                </a:tc>
              </a:tr>
              <a:tr h="239325">
                <a:tc>
                  <a:txBody>
                    <a:bodyPr/>
                    <a:lstStyle/>
                    <a:p>
                      <a:pPr marL="0" lvl="0" indent="0" algn="ctr" rtl="0">
                        <a:spcBef>
                          <a:spcPts val="0"/>
                        </a:spcBef>
                        <a:spcAft>
                          <a:spcPts val="0"/>
                        </a:spcAft>
                        <a:buNone/>
                      </a:pPr>
                      <a:r>
                        <a:rPr lang="zh-CN" sz="1200"/>
                        <a:t>3</a:t>
                      </a:r>
                      <a:endParaRPr sz="1200"/>
                    </a:p>
                  </a:txBody>
                  <a:tcPr marL="91425" marR="91425" marT="91425" marB="91425"/>
                </a:tc>
                <a:tc>
                  <a:txBody>
                    <a:bodyPr/>
                    <a:lstStyle/>
                    <a:p>
                      <a:pPr marL="0" lvl="0" indent="0" algn="ctr" rtl="0">
                        <a:spcBef>
                          <a:spcPts val="0"/>
                        </a:spcBef>
                        <a:spcAft>
                          <a:spcPts val="0"/>
                        </a:spcAft>
                        <a:buNone/>
                      </a:pPr>
                      <a:r>
                        <a:rPr lang="zh-CN" sz="1200"/>
                        <a:t>2</a:t>
                      </a:r>
                      <a:endParaRPr sz="1200"/>
                    </a:p>
                  </a:txBody>
                  <a:tcPr marL="91425" marR="91425" marT="91425" marB="91425"/>
                </a:tc>
                <a:tc>
                  <a:txBody>
                    <a:bodyPr/>
                    <a:lstStyle/>
                    <a:p>
                      <a:pPr marL="0" lvl="0" indent="0" algn="ctr" rtl="0">
                        <a:spcBef>
                          <a:spcPts val="0"/>
                        </a:spcBef>
                        <a:spcAft>
                          <a:spcPts val="0"/>
                        </a:spcAft>
                        <a:buNone/>
                      </a:pPr>
                      <a:r>
                        <a:rPr lang="zh-CN" sz="1200"/>
                        <a:t>1</a:t>
                      </a:r>
                      <a:endParaRPr sz="1200"/>
                    </a:p>
                  </a:txBody>
                  <a:tcPr marL="91425" marR="91425" marT="91425" marB="91425"/>
                </a:tc>
                <a:tc>
                  <a:txBody>
                    <a:bodyPr/>
                    <a:lstStyle/>
                    <a:p>
                      <a:pPr marL="0" lvl="0" indent="0" algn="ctr" rtl="0">
                        <a:spcBef>
                          <a:spcPts val="0"/>
                        </a:spcBef>
                        <a:spcAft>
                          <a:spcPts val="0"/>
                        </a:spcAft>
                        <a:buNone/>
                      </a:pPr>
                      <a:r>
                        <a:rPr lang="zh-CN" sz="1200"/>
                        <a:t>3</a:t>
                      </a:r>
                      <a:endParaRPr sz="1200"/>
                    </a:p>
                  </a:txBody>
                  <a:tcPr marL="91425" marR="91425" marT="91425" marB="91425"/>
                </a:tc>
              </a:tr>
              <a:tr h="239325">
                <a:tc>
                  <a:txBody>
                    <a:bodyPr/>
                    <a:lstStyle/>
                    <a:p>
                      <a:pPr marL="0" lvl="0" indent="0" algn="ctr" rtl="0">
                        <a:spcBef>
                          <a:spcPts val="0"/>
                        </a:spcBef>
                        <a:spcAft>
                          <a:spcPts val="0"/>
                        </a:spcAft>
                        <a:buNone/>
                      </a:pPr>
                      <a:r>
                        <a:rPr lang="zh-CN" sz="1200"/>
                        <a:t>4</a:t>
                      </a:r>
                      <a:endParaRPr sz="1200"/>
                    </a:p>
                  </a:txBody>
                  <a:tcPr marL="91425" marR="91425" marT="91425" marB="91425"/>
                </a:tc>
                <a:tc>
                  <a:txBody>
                    <a:bodyPr/>
                    <a:lstStyle/>
                    <a:p>
                      <a:pPr marL="0" lvl="0" indent="0" algn="ctr" rtl="0">
                        <a:spcBef>
                          <a:spcPts val="0"/>
                        </a:spcBef>
                        <a:spcAft>
                          <a:spcPts val="0"/>
                        </a:spcAft>
                        <a:buNone/>
                      </a:pPr>
                      <a:r>
                        <a:rPr lang="zh-CN" sz="1200"/>
                        <a:t>1</a:t>
                      </a:r>
                      <a:endParaRPr sz="1200"/>
                    </a:p>
                  </a:txBody>
                  <a:tcPr marL="91425" marR="91425" marT="91425" marB="91425"/>
                </a:tc>
                <a:tc>
                  <a:txBody>
                    <a:bodyPr/>
                    <a:lstStyle/>
                    <a:p>
                      <a:pPr marL="0" lvl="0" indent="0" algn="ctr" rtl="0">
                        <a:spcBef>
                          <a:spcPts val="0"/>
                        </a:spcBef>
                        <a:spcAft>
                          <a:spcPts val="0"/>
                        </a:spcAft>
                        <a:buNone/>
                      </a:pPr>
                      <a:r>
                        <a:rPr lang="zh-CN" sz="1200"/>
                        <a:t>1</a:t>
                      </a:r>
                      <a:endParaRPr sz="1200"/>
                    </a:p>
                  </a:txBody>
                  <a:tcPr marL="91425" marR="91425" marT="91425" marB="91425"/>
                </a:tc>
                <a:tc>
                  <a:txBody>
                    <a:bodyPr/>
                    <a:lstStyle/>
                    <a:p>
                      <a:pPr marL="0" lvl="0" indent="0" algn="ctr" rtl="0">
                        <a:spcBef>
                          <a:spcPts val="0"/>
                        </a:spcBef>
                        <a:spcAft>
                          <a:spcPts val="0"/>
                        </a:spcAft>
                        <a:buNone/>
                      </a:pPr>
                      <a:r>
                        <a:rPr lang="zh-CN" sz="1200"/>
                        <a:t>2</a:t>
                      </a:r>
                      <a:endParaRPr sz="1200"/>
                    </a:p>
                  </a:txBody>
                  <a:tcPr marL="91425" marR="91425" marT="91425" marB="91425"/>
                </a:tc>
              </a:tr>
              <a:tr h="198325">
                <a:tc>
                  <a:txBody>
                    <a:bodyPr/>
                    <a:lstStyle/>
                    <a:p>
                      <a:pPr marL="0" lvl="0" indent="0" algn="ctr" rtl="0">
                        <a:spcBef>
                          <a:spcPts val="0"/>
                        </a:spcBef>
                        <a:spcAft>
                          <a:spcPts val="0"/>
                        </a:spcAft>
                        <a:buNone/>
                      </a:pPr>
                      <a:r>
                        <a:rPr lang="zh-CN" sz="1200"/>
                        <a:t>5</a:t>
                      </a:r>
                      <a:endParaRPr sz="1200"/>
                    </a:p>
                  </a:txBody>
                  <a:tcPr marL="91425" marR="91425" marT="91425" marB="91425"/>
                </a:tc>
                <a:tc>
                  <a:txBody>
                    <a:bodyPr/>
                    <a:lstStyle/>
                    <a:p>
                      <a:pPr marL="0" lvl="0" indent="0" algn="ctr" rtl="0">
                        <a:spcBef>
                          <a:spcPts val="0"/>
                        </a:spcBef>
                        <a:spcAft>
                          <a:spcPts val="0"/>
                        </a:spcAft>
                        <a:buNone/>
                      </a:pPr>
                      <a:r>
                        <a:rPr lang="zh-CN" sz="1200"/>
                        <a:t>0</a:t>
                      </a:r>
                      <a:endParaRPr sz="1200"/>
                    </a:p>
                  </a:txBody>
                  <a:tcPr marL="91425" marR="91425" marT="91425" marB="91425"/>
                </a:tc>
                <a:tc>
                  <a:txBody>
                    <a:bodyPr/>
                    <a:lstStyle/>
                    <a:p>
                      <a:pPr marL="0" lvl="0" indent="0" algn="ctr" rtl="0">
                        <a:spcBef>
                          <a:spcPts val="0"/>
                        </a:spcBef>
                        <a:spcAft>
                          <a:spcPts val="0"/>
                        </a:spcAft>
                        <a:buNone/>
                      </a:pPr>
                      <a:r>
                        <a:rPr lang="zh-CN" sz="1200"/>
                        <a:t>0</a:t>
                      </a:r>
                      <a:endParaRPr sz="1200"/>
                    </a:p>
                  </a:txBody>
                  <a:tcPr marL="91425" marR="91425" marT="91425" marB="91425"/>
                </a:tc>
                <a:tc>
                  <a:txBody>
                    <a:bodyPr/>
                    <a:lstStyle/>
                    <a:p>
                      <a:pPr marL="0" lvl="0" indent="0" algn="ctr" rtl="0">
                        <a:spcBef>
                          <a:spcPts val="0"/>
                        </a:spcBef>
                        <a:spcAft>
                          <a:spcPts val="0"/>
                        </a:spcAft>
                        <a:buNone/>
                      </a:pPr>
                      <a:r>
                        <a:rPr lang="zh-CN" sz="1200"/>
                        <a:t>0</a:t>
                      </a:r>
                      <a:endParaRPr sz="1200"/>
                    </a:p>
                  </a:txBody>
                  <a:tcPr marL="91425" marR="91425" marT="91425" marB="91425"/>
                </a:tc>
              </a:tr>
            </a:tbl>
          </a:graphicData>
        </a:graphic>
      </p:graphicFrame>
      <p:sp>
        <p:nvSpPr>
          <p:cNvPr id="676" name="Google Shape;676;p39"/>
          <p:cNvSpPr/>
          <p:nvPr/>
        </p:nvSpPr>
        <p:spPr>
          <a:xfrm>
            <a:off x="3631900" y="3664875"/>
            <a:ext cx="1086300" cy="308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sz="1300">
                <a:latin typeface="Lato" panose="020F0502020204030203"/>
                <a:ea typeface="Lato" panose="020F0502020204030203"/>
                <a:cs typeface="Lato" panose="020F0502020204030203"/>
                <a:sym typeface="Lato" panose="020F0502020204030203"/>
              </a:rPr>
              <a:t>11</a:t>
            </a:r>
            <a:endParaRPr sz="1300">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680" name="Shape 680"/>
        <p:cNvGrpSpPr/>
        <p:nvPr/>
      </p:nvGrpSpPr>
      <p:grpSpPr>
        <a:xfrm>
          <a:off x="0" y="0"/>
          <a:ext cx="0" cy="0"/>
          <a:chOff x="0" y="0"/>
          <a:chExt cx="0" cy="0"/>
        </a:xfrm>
      </p:grpSpPr>
      <p:sp>
        <p:nvSpPr>
          <p:cNvPr id="681" name="Google Shape;681;p40"/>
          <p:cNvSpPr txBox="1"/>
          <p:nvPr>
            <p:ph type="title"/>
          </p:nvPr>
        </p:nvSpPr>
        <p:spPr>
          <a:xfrm>
            <a:off x="1141730" y="603250"/>
            <a:ext cx="7447915" cy="5353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10">
                <a:latin typeface="Lato" panose="020F0502020204030203"/>
                <a:ea typeface="Lato" panose="020F0502020204030203"/>
                <a:cs typeface="Lato" panose="020F0502020204030203"/>
                <a:sym typeface="Lato" panose="020F0502020204030203"/>
              </a:rPr>
              <a:t>The time complexity of </a:t>
            </a:r>
            <a:r>
              <a:rPr lang="en-US" altLang="zh-CN" sz="2910">
                <a:latin typeface="Lato" panose="020F0502020204030203"/>
                <a:ea typeface="Lato" panose="020F0502020204030203"/>
                <a:cs typeface="Lato" panose="020F0502020204030203"/>
                <a:sym typeface="Lato" panose="020F0502020204030203"/>
              </a:rPr>
              <a:t>Swap and Heapify</a:t>
            </a:r>
            <a:endParaRPr sz="2340"/>
          </a:p>
        </p:txBody>
      </p:sp>
      <p:sp>
        <p:nvSpPr>
          <p:cNvPr id="682" name="Google Shape;682;p40"/>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683" name="Google Shape;683;p40"/>
          <p:cNvSpPr txBox="1"/>
          <p:nvPr/>
        </p:nvSpPr>
        <p:spPr>
          <a:xfrm>
            <a:off x="793875" y="1214850"/>
            <a:ext cx="4432200" cy="6737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600" b="1">
              <a:solidFill>
                <a:schemeClr val="accent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The height of heap is log</a:t>
            </a:r>
            <a:r>
              <a:rPr lang="en-US" altLang="zh-CN" sz="1600" b="1" baseline="-25000">
                <a:solidFill>
                  <a:schemeClr val="accent1"/>
                </a:solidFill>
                <a:latin typeface="Lato" panose="020F0502020204030203"/>
                <a:ea typeface="Lato" panose="020F0502020204030203"/>
                <a:cs typeface="Lato" panose="020F0502020204030203"/>
                <a:sym typeface="Lato" panose="020F0502020204030203"/>
              </a:rPr>
              <a:t>2</a:t>
            </a:r>
            <a:r>
              <a:rPr lang="zh-CN" sz="1600" b="1">
                <a:solidFill>
                  <a:schemeClr val="accent1"/>
                </a:solidFill>
                <a:latin typeface="Lato" panose="020F0502020204030203"/>
                <a:ea typeface="Lato" panose="020F0502020204030203"/>
                <a:cs typeface="Lato" panose="020F0502020204030203"/>
                <a:sym typeface="Lato" panose="020F0502020204030203"/>
              </a:rPr>
              <a:t>(n) (n is total amount)</a:t>
            </a:r>
            <a:endParaRPr sz="1600" b="1">
              <a:solidFill>
                <a:schemeClr val="accent1"/>
              </a:solidFill>
              <a:latin typeface="Lato" panose="020F0502020204030203"/>
              <a:ea typeface="Lato" panose="020F0502020204030203"/>
              <a:cs typeface="Lato" panose="020F0502020204030203"/>
              <a:sym typeface="Lato" panose="020F0502020204030203"/>
            </a:endParaRPr>
          </a:p>
        </p:txBody>
      </p:sp>
      <p:sp>
        <p:nvSpPr>
          <p:cNvPr id="684" name="Google Shape;684;p40"/>
          <p:cNvSpPr/>
          <p:nvPr/>
        </p:nvSpPr>
        <p:spPr>
          <a:xfrm>
            <a:off x="6412625" y="13049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685" name="Google Shape;685;p40"/>
          <p:cNvSpPr/>
          <p:nvPr/>
        </p:nvSpPr>
        <p:spPr>
          <a:xfrm>
            <a:off x="5590975" y="227880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686" name="Google Shape;686;p40"/>
          <p:cNvSpPr/>
          <p:nvPr/>
        </p:nvSpPr>
        <p:spPr>
          <a:xfrm>
            <a:off x="67879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687" name="Google Shape;687;p40"/>
          <p:cNvSpPr/>
          <p:nvPr/>
        </p:nvSpPr>
        <p:spPr>
          <a:xfrm>
            <a:off x="4763825" y="323922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688" name="Google Shape;688;p40"/>
          <p:cNvSpPr/>
          <p:nvPr/>
        </p:nvSpPr>
        <p:spPr>
          <a:xfrm>
            <a:off x="6217350" y="3286750"/>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689" name="Google Shape;689;p40"/>
          <p:cNvSpPr/>
          <p:nvPr/>
        </p:nvSpPr>
        <p:spPr>
          <a:xfrm>
            <a:off x="7329325" y="2164675"/>
            <a:ext cx="570600" cy="525000"/>
          </a:xfrm>
          <a:prstGeom prst="ellipse">
            <a:avLst/>
          </a:prstGeom>
          <a:solidFill>
            <a:srgbClr val="CC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690" name="Google Shape;690;p40"/>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91" name="Google Shape;691;p40"/>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92" name="Google Shape;692;p40"/>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93" name="Google Shape;693;p40"/>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94" name="Google Shape;694;p40"/>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95" name="Google Shape;695;p40"/>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696" name="Google Shape;696;p40"/>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r>
            </a:tbl>
          </a:graphicData>
        </a:graphic>
      </p:graphicFrame>
      <p:sp>
        <p:nvSpPr>
          <p:cNvPr id="697" name="Google Shape;697;p40"/>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698" name="Google Shape;698;p40"/>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699" name="Google Shape;699;p40"/>
          <p:cNvSpPr txBox="1"/>
          <p:nvPr/>
        </p:nvSpPr>
        <p:spPr>
          <a:xfrm>
            <a:off x="889635" y="1830070"/>
            <a:ext cx="3950970" cy="217741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In the worst case, when a node travels from the root to a leaf node, it can only go at most log(n).</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During the process (the maximum number):</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600">
                <a:solidFill>
                  <a:schemeClr val="accent1"/>
                </a:solidFill>
                <a:latin typeface="Lato" panose="020F0502020204030203"/>
                <a:ea typeface="Lato" panose="020F0502020204030203"/>
                <a:cs typeface="Lato" panose="020F0502020204030203"/>
                <a:sym typeface="Lato" panose="020F0502020204030203"/>
              </a:rPr>
              <a:t>•</a:t>
            </a:r>
            <a:r>
              <a:rPr lang="zh-CN" sz="1300">
                <a:solidFill>
                  <a:schemeClr val="dk2"/>
                </a:solidFill>
                <a:latin typeface="Lato" panose="020F0502020204030203"/>
                <a:ea typeface="Lato" panose="020F0502020204030203"/>
                <a:cs typeface="Lato" panose="020F0502020204030203"/>
                <a:sym typeface="Lato" panose="020F0502020204030203"/>
              </a:rPr>
              <a:t>Comparisons: 2log</a:t>
            </a:r>
            <a:r>
              <a:rPr lang="en-US" altLang="zh-CN" sz="1300" baseline="-25000">
                <a:solidFill>
                  <a:schemeClr val="dk2"/>
                </a:solidFill>
                <a:latin typeface="Lato" panose="020F0502020204030203"/>
                <a:ea typeface="Lato" panose="020F0502020204030203"/>
                <a:cs typeface="Lato" panose="020F0502020204030203"/>
                <a:sym typeface="Lato" panose="020F0502020204030203"/>
              </a:rPr>
              <a:t>2</a:t>
            </a:r>
            <a:r>
              <a:rPr lang="zh-CN" sz="1300">
                <a:solidFill>
                  <a:schemeClr val="dk2"/>
                </a:solidFill>
                <a:latin typeface="Lato" panose="020F0502020204030203"/>
                <a:ea typeface="Lato" panose="020F0502020204030203"/>
                <a:cs typeface="Lato" panose="020F0502020204030203"/>
                <a:sym typeface="Lato" panose="020F0502020204030203"/>
              </a:rPr>
              <a:t>(n)</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600">
                <a:solidFill>
                  <a:schemeClr val="accent1"/>
                </a:solidFill>
                <a:latin typeface="Lato" panose="020F0502020204030203"/>
                <a:ea typeface="Lato" panose="020F0502020204030203"/>
                <a:cs typeface="Lato" panose="020F0502020204030203"/>
                <a:sym typeface="Lato" panose="020F0502020204030203"/>
              </a:rPr>
              <a:t>•</a:t>
            </a:r>
            <a:r>
              <a:rPr lang="zh-CN" sz="1300">
                <a:solidFill>
                  <a:schemeClr val="dk2"/>
                </a:solidFill>
                <a:latin typeface="Lato" panose="020F0502020204030203"/>
                <a:ea typeface="Lato" panose="020F0502020204030203"/>
                <a:cs typeface="Lato" panose="020F0502020204030203"/>
                <a:sym typeface="Lato" panose="020F0502020204030203"/>
              </a:rPr>
              <a:t>Exchange: log</a:t>
            </a:r>
            <a:r>
              <a:rPr lang="en-US" altLang="zh-CN" sz="1300" baseline="-25000">
                <a:solidFill>
                  <a:schemeClr val="dk2"/>
                </a:solidFill>
                <a:latin typeface="Lato" panose="020F0502020204030203"/>
                <a:ea typeface="Lato" panose="020F0502020204030203"/>
                <a:cs typeface="Lato" panose="020F0502020204030203"/>
                <a:sym typeface="Lato" panose="020F0502020204030203"/>
              </a:rPr>
              <a:t>2</a:t>
            </a:r>
            <a:r>
              <a:rPr lang="zh-CN" sz="1300">
                <a:solidFill>
                  <a:schemeClr val="dk2"/>
                </a:solidFill>
                <a:latin typeface="Lato" panose="020F0502020204030203"/>
                <a:ea typeface="Lato" panose="020F0502020204030203"/>
                <a:cs typeface="Lato" panose="020F0502020204030203"/>
                <a:sym typeface="Lato" panose="020F0502020204030203"/>
              </a:rPr>
              <a:t>(n)</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The total number of operations of a node is 3log</a:t>
            </a:r>
            <a:r>
              <a:rPr lang="en-US" altLang="zh-CN" sz="1300" baseline="-25000">
                <a:solidFill>
                  <a:schemeClr val="dk2"/>
                </a:solidFill>
                <a:latin typeface="Lato" panose="020F0502020204030203"/>
                <a:ea typeface="Lato" panose="020F0502020204030203"/>
                <a:cs typeface="Lato" panose="020F0502020204030203"/>
                <a:sym typeface="Lato" panose="020F0502020204030203"/>
              </a:rPr>
              <a:t>2</a:t>
            </a:r>
            <a:r>
              <a:rPr lang="zh-CN" sz="1300">
                <a:solidFill>
                  <a:schemeClr val="dk2"/>
                </a:solidFill>
                <a:latin typeface="Lato" panose="020F0502020204030203"/>
                <a:ea typeface="Lato" panose="020F0502020204030203"/>
                <a:cs typeface="Lato" panose="020F0502020204030203"/>
                <a:sym typeface="Lato" panose="020F0502020204030203"/>
              </a:rPr>
              <a:t>(n)</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=&gt; The total number of operations of all nodes are</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3nlog</a:t>
            </a:r>
            <a:r>
              <a:rPr lang="en-US" altLang="zh-CN" sz="1300" baseline="-25000">
                <a:solidFill>
                  <a:schemeClr val="dk2"/>
                </a:solidFill>
                <a:latin typeface="Lato" panose="020F0502020204030203"/>
                <a:ea typeface="Lato" panose="020F0502020204030203"/>
                <a:cs typeface="Lato" panose="020F0502020204030203"/>
                <a:sym typeface="Lato" panose="020F0502020204030203"/>
              </a:rPr>
              <a:t>2</a:t>
            </a:r>
            <a:r>
              <a:rPr lang="zh-CN" sz="1300">
                <a:solidFill>
                  <a:schemeClr val="dk2"/>
                </a:solidFill>
                <a:latin typeface="Lato" panose="020F0502020204030203"/>
                <a:ea typeface="Lato" panose="020F0502020204030203"/>
                <a:cs typeface="Lato" panose="020F0502020204030203"/>
                <a:sym typeface="Lato" panose="020F0502020204030203"/>
              </a:rPr>
              <a:t>(n)</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So </a:t>
            </a:r>
            <a:r>
              <a:rPr lang="zh-CN" sz="1300">
                <a:solidFill>
                  <a:schemeClr val="accent1"/>
                </a:solidFill>
                <a:latin typeface="Lato" panose="020F0502020204030203"/>
                <a:ea typeface="Lato" panose="020F0502020204030203"/>
                <a:cs typeface="Lato" panose="020F0502020204030203"/>
                <a:sym typeface="Lato" panose="020F0502020204030203"/>
              </a:rPr>
              <a:t>Asymptotic Complexity: </a:t>
            </a:r>
            <a:r>
              <a:rPr lang="zh-CN" b="1">
                <a:solidFill>
                  <a:schemeClr val="dk2"/>
                </a:solidFill>
                <a:latin typeface="Lato" panose="020F0502020204030203"/>
                <a:ea typeface="Lato" panose="020F0502020204030203"/>
                <a:cs typeface="Lato" panose="020F0502020204030203"/>
                <a:sym typeface="Lato" panose="020F0502020204030203"/>
              </a:rPr>
              <a:t>O(nlogn)</a:t>
            </a:r>
            <a:endParaRPr b="1">
              <a:solidFill>
                <a:schemeClr val="dk2"/>
              </a:solidFill>
              <a:latin typeface="Lato" panose="020F0502020204030203"/>
              <a:ea typeface="Lato" panose="020F0502020204030203"/>
              <a:cs typeface="Lato" panose="020F0502020204030203"/>
              <a:sym typeface="Lato" panose="020F0502020204030203"/>
            </a:endParaRPr>
          </a:p>
        </p:txBody>
      </p:sp>
      <p:sp>
        <p:nvSpPr>
          <p:cNvPr id="700" name="Google Shape;700;p40"/>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704" name="Shape 704"/>
        <p:cNvGrpSpPr/>
        <p:nvPr/>
      </p:nvGrpSpPr>
      <p:grpSpPr>
        <a:xfrm>
          <a:off x="0" y="0"/>
          <a:ext cx="0" cy="0"/>
          <a:chOff x="0" y="0"/>
          <a:chExt cx="0" cy="0"/>
        </a:xfrm>
      </p:grpSpPr>
      <p:sp>
        <p:nvSpPr>
          <p:cNvPr id="705" name="Google Shape;705;p41"/>
          <p:cNvSpPr txBox="1"/>
          <p:nvPr>
            <p:ph type="title"/>
          </p:nvPr>
        </p:nvSpPr>
        <p:spPr>
          <a:xfrm>
            <a:off x="1705350" y="603425"/>
            <a:ext cx="57369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10">
                <a:latin typeface="Lato" panose="020F0502020204030203"/>
                <a:ea typeface="Lato" panose="020F0502020204030203"/>
                <a:cs typeface="Lato" panose="020F0502020204030203"/>
                <a:sym typeface="Lato" panose="020F0502020204030203"/>
              </a:rPr>
              <a:t>The time complexity of Heap Sort</a:t>
            </a:r>
            <a:endParaRPr sz="291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SzPts val="990"/>
              <a:buNone/>
            </a:pPr>
            <a:endParaRPr sz="2340"/>
          </a:p>
        </p:txBody>
      </p:sp>
      <p:sp>
        <p:nvSpPr>
          <p:cNvPr id="706" name="Google Shape;706;p41"/>
          <p:cNvSpPr txBox="1"/>
          <p:nvPr>
            <p:ph type="body" idx="1"/>
          </p:nvPr>
        </p:nvSpPr>
        <p:spPr>
          <a:xfrm>
            <a:off x="135975" y="134425"/>
            <a:ext cx="1342800" cy="327300"/>
          </a:xfrm>
          <a:prstGeom prst="rect">
            <a:avLst/>
          </a:prstGeom>
        </p:spPr>
        <p:txBody>
          <a:bodyPr spcFirstLastPara="1" wrap="square" lIns="91425" tIns="91425" rIns="91425" bIns="91425" anchor="t" anchorCtr="0">
            <a:normAutofit fontScale="70000"/>
          </a:bodyPr>
          <a:lstStyle/>
          <a:p>
            <a:pPr marL="0" lvl="0" indent="0" algn="l" rtl="0">
              <a:spcBef>
                <a:spcPts val="0"/>
              </a:spcBef>
              <a:spcAft>
                <a:spcPts val="1200"/>
              </a:spcAft>
              <a:buNone/>
            </a:pPr>
          </a:p>
        </p:txBody>
      </p:sp>
      <p:sp>
        <p:nvSpPr>
          <p:cNvPr id="707" name="Google Shape;707;p41"/>
          <p:cNvSpPr txBox="1"/>
          <p:nvPr/>
        </p:nvSpPr>
        <p:spPr>
          <a:xfrm>
            <a:off x="748225" y="1389850"/>
            <a:ext cx="3675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600" b="1">
                <a:solidFill>
                  <a:schemeClr val="accent1"/>
                </a:solidFill>
                <a:latin typeface="Lato" panose="020F0502020204030203"/>
                <a:ea typeface="Lato" panose="020F0502020204030203"/>
                <a:cs typeface="Lato" panose="020F0502020204030203"/>
                <a:sym typeface="Lato" panose="020F0502020204030203"/>
              </a:rPr>
              <a:t>Let’s take the min-heap as an example.</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708" name="Google Shape;708;p41"/>
          <p:cNvSpPr/>
          <p:nvPr/>
        </p:nvSpPr>
        <p:spPr>
          <a:xfrm>
            <a:off x="6412625" y="13049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4</a:t>
            </a:r>
            <a:endParaRPr>
              <a:latin typeface="Lato" panose="020F0502020204030203"/>
              <a:ea typeface="Lato" panose="020F0502020204030203"/>
              <a:cs typeface="Lato" panose="020F0502020204030203"/>
              <a:sym typeface="Lato" panose="020F0502020204030203"/>
            </a:endParaRPr>
          </a:p>
        </p:txBody>
      </p:sp>
      <p:sp>
        <p:nvSpPr>
          <p:cNvPr id="709" name="Google Shape;709;p41"/>
          <p:cNvSpPr/>
          <p:nvPr/>
        </p:nvSpPr>
        <p:spPr>
          <a:xfrm>
            <a:off x="5590975" y="227880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10</a:t>
            </a:r>
            <a:endParaRPr>
              <a:latin typeface="Lato" panose="020F0502020204030203"/>
              <a:ea typeface="Lato" panose="020F0502020204030203"/>
              <a:cs typeface="Lato" panose="020F0502020204030203"/>
              <a:sym typeface="Lato" panose="020F0502020204030203"/>
            </a:endParaRPr>
          </a:p>
        </p:txBody>
      </p:sp>
      <p:sp>
        <p:nvSpPr>
          <p:cNvPr id="710" name="Google Shape;710;p41"/>
          <p:cNvSpPr/>
          <p:nvPr/>
        </p:nvSpPr>
        <p:spPr>
          <a:xfrm>
            <a:off x="67879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2</a:t>
            </a:r>
            <a:endParaRPr>
              <a:latin typeface="Lato" panose="020F0502020204030203"/>
              <a:ea typeface="Lato" panose="020F0502020204030203"/>
              <a:cs typeface="Lato" panose="020F0502020204030203"/>
              <a:sym typeface="Lato" panose="020F0502020204030203"/>
            </a:endParaRPr>
          </a:p>
        </p:txBody>
      </p:sp>
      <p:sp>
        <p:nvSpPr>
          <p:cNvPr id="711" name="Google Shape;711;p41"/>
          <p:cNvSpPr/>
          <p:nvPr/>
        </p:nvSpPr>
        <p:spPr>
          <a:xfrm>
            <a:off x="4763825" y="323922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5</a:t>
            </a:r>
            <a:endParaRPr>
              <a:latin typeface="Lato" panose="020F0502020204030203"/>
              <a:ea typeface="Lato" panose="020F0502020204030203"/>
              <a:cs typeface="Lato" panose="020F0502020204030203"/>
              <a:sym typeface="Lato" panose="020F0502020204030203"/>
            </a:endParaRPr>
          </a:p>
        </p:txBody>
      </p:sp>
      <p:sp>
        <p:nvSpPr>
          <p:cNvPr id="712" name="Google Shape;712;p41"/>
          <p:cNvSpPr/>
          <p:nvPr/>
        </p:nvSpPr>
        <p:spPr>
          <a:xfrm>
            <a:off x="6217350" y="3286750"/>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1</a:t>
            </a:r>
            <a:endParaRPr>
              <a:latin typeface="Lato" panose="020F0502020204030203"/>
              <a:ea typeface="Lato" panose="020F0502020204030203"/>
              <a:cs typeface="Lato" panose="020F0502020204030203"/>
              <a:sym typeface="Lato" panose="020F0502020204030203"/>
            </a:endParaRPr>
          </a:p>
        </p:txBody>
      </p:sp>
      <p:sp>
        <p:nvSpPr>
          <p:cNvPr id="713" name="Google Shape;713;p41"/>
          <p:cNvSpPr/>
          <p:nvPr/>
        </p:nvSpPr>
        <p:spPr>
          <a:xfrm>
            <a:off x="7329325" y="2164675"/>
            <a:ext cx="570600" cy="525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3</a:t>
            </a:r>
            <a:endParaRPr>
              <a:latin typeface="Lato" panose="020F0502020204030203"/>
              <a:ea typeface="Lato" panose="020F0502020204030203"/>
              <a:cs typeface="Lato" panose="020F0502020204030203"/>
              <a:sym typeface="Lato" panose="020F0502020204030203"/>
            </a:endParaRPr>
          </a:p>
        </p:txBody>
      </p:sp>
      <p:sp>
        <p:nvSpPr>
          <p:cNvPr id="714" name="Google Shape;714;p41"/>
          <p:cNvSpPr/>
          <p:nvPr/>
        </p:nvSpPr>
        <p:spPr>
          <a:xfrm rot="7825401">
            <a:off x="6014863" y="1937572"/>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15" name="Google Shape;715;p41"/>
          <p:cNvSpPr/>
          <p:nvPr/>
        </p:nvSpPr>
        <p:spPr>
          <a:xfrm rot="7008492">
            <a:off x="7071292" y="2825356"/>
            <a:ext cx="537466" cy="243644"/>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16" name="Google Shape;716;p41"/>
          <p:cNvSpPr/>
          <p:nvPr/>
        </p:nvSpPr>
        <p:spPr>
          <a:xfrm rot="3089755">
            <a:off x="6014862" y="2926949"/>
            <a:ext cx="534397" cy="243585"/>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17" name="Google Shape;717;p41"/>
          <p:cNvSpPr/>
          <p:nvPr/>
        </p:nvSpPr>
        <p:spPr>
          <a:xfrm rot="7825401">
            <a:off x="5182026" y="2882597"/>
            <a:ext cx="534367"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18" name="Google Shape;718;p41"/>
          <p:cNvSpPr/>
          <p:nvPr/>
        </p:nvSpPr>
        <p:spPr>
          <a:xfrm rot="2981288">
            <a:off x="6909109" y="1874198"/>
            <a:ext cx="534664" cy="243691"/>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19" name="Google Shape;719;p41"/>
          <p:cNvSpPr txBox="1"/>
          <p:nvPr/>
        </p:nvSpPr>
        <p:spPr>
          <a:xfrm>
            <a:off x="6830250" y="138922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（1）</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720" name="Google Shape;720;p41"/>
          <p:cNvSpPr txBox="1"/>
          <p:nvPr/>
        </p:nvSpPr>
        <p:spPr>
          <a:xfrm>
            <a:off x="6020438" y="2398388"/>
            <a:ext cx="6315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（2）</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721" name="Google Shape;721;p41"/>
          <p:cNvSpPr txBox="1"/>
          <p:nvPr/>
        </p:nvSpPr>
        <p:spPr>
          <a:xfrm>
            <a:off x="7755800" y="2248975"/>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（3）</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722" name="Google Shape;722;p41"/>
          <p:cNvSpPr txBox="1"/>
          <p:nvPr/>
        </p:nvSpPr>
        <p:spPr>
          <a:xfrm>
            <a:off x="5183100" y="3371050"/>
            <a:ext cx="692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（4）</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723" name="Google Shape;723;p41"/>
          <p:cNvSpPr txBox="1"/>
          <p:nvPr/>
        </p:nvSpPr>
        <p:spPr>
          <a:xfrm>
            <a:off x="5745438" y="3390400"/>
            <a:ext cx="6315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（5）</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724" name="Google Shape;724;p41"/>
          <p:cNvSpPr txBox="1"/>
          <p:nvPr/>
        </p:nvSpPr>
        <p:spPr>
          <a:xfrm>
            <a:off x="7184775" y="3385600"/>
            <a:ext cx="783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（6）</a:t>
            </a:r>
            <a:endParaRPr sz="1300">
              <a:solidFill>
                <a:schemeClr val="accent1"/>
              </a:solidFill>
              <a:latin typeface="Lato" panose="020F0502020204030203"/>
              <a:ea typeface="Lato" panose="020F0502020204030203"/>
              <a:cs typeface="Lato" panose="020F0502020204030203"/>
              <a:sym typeface="Lato" panose="020F0502020204030203"/>
            </a:endParaRPr>
          </a:p>
        </p:txBody>
      </p:sp>
      <p:graphicFrame>
        <p:nvGraphicFramePr>
          <p:cNvPr id="725" name="Google Shape;725;p41"/>
          <p:cNvGraphicFramePr/>
          <p:nvPr/>
        </p:nvGraphicFramePr>
        <p:xfrm>
          <a:off x="1089425" y="4075775"/>
          <a:ext cx="7239050" cy="3000000"/>
        </p:xfrm>
        <a:graphic>
          <a:graphicData uri="http://schemas.openxmlformats.org/drawingml/2006/table">
            <a:tbl>
              <a:tblPr>
                <a:noFill/>
                <a:tableStyleId>{B85B4C50-FAD5-47BA-BD73-6CF19DB52098}</a:tableStyleId>
              </a:tblPr>
              <a:tblGrid>
                <a:gridCol w="1034150"/>
                <a:gridCol w="1034150"/>
                <a:gridCol w="1034150"/>
                <a:gridCol w="1034150"/>
                <a:gridCol w="1034150"/>
                <a:gridCol w="1034150"/>
                <a:gridCol w="1034150"/>
              </a:tblGrid>
              <a:tr h="381000">
                <a:tc>
                  <a:txBody>
                    <a:bodyPr/>
                    <a:lstStyle/>
                    <a:p>
                      <a:pPr marL="0" lvl="0" indent="0" algn="ctr" rtl="0">
                        <a:spcBef>
                          <a:spcPts val="0"/>
                        </a:spcBef>
                        <a:spcAft>
                          <a:spcPts val="0"/>
                        </a:spcAft>
                        <a:buNone/>
                      </a:pPr>
                    </a:p>
                  </a:txBody>
                  <a:tcPr marL="91425" marR="91425" marT="91425" marB="91425"/>
                </a:tc>
                <a:tc>
                  <a:txBody>
                    <a:bodyPr/>
                    <a:lstStyle/>
                    <a:p>
                      <a:pPr marL="0" lvl="0" indent="0" algn="ctr" rtl="0">
                        <a:spcBef>
                          <a:spcPts val="0"/>
                        </a:spcBef>
                        <a:spcAft>
                          <a:spcPts val="0"/>
                        </a:spcAft>
                        <a:buNone/>
                      </a:pPr>
                      <a:r>
                        <a:rPr lang="zh-CN"/>
                        <a:t>4</a:t>
                      </a:r>
                      <a:endParaRPr lang="zh-CN"/>
                    </a:p>
                  </a:txBody>
                  <a:tcPr marL="91425" marR="91425" marT="91425" marB="91425"/>
                </a:tc>
                <a:tc>
                  <a:txBody>
                    <a:bodyPr/>
                    <a:lstStyle/>
                    <a:p>
                      <a:pPr marL="0" lvl="0" indent="0" algn="ctr" rtl="0">
                        <a:spcBef>
                          <a:spcPts val="0"/>
                        </a:spcBef>
                        <a:spcAft>
                          <a:spcPts val="0"/>
                        </a:spcAft>
                        <a:buNone/>
                      </a:pPr>
                      <a:r>
                        <a:rPr lang="zh-CN"/>
                        <a:t>10</a:t>
                      </a:r>
                      <a:endParaRPr lang="zh-CN"/>
                    </a:p>
                  </a:txBody>
                  <a:tcPr marL="91425" marR="91425" marT="91425" marB="91425"/>
                </a:tc>
                <a:tc>
                  <a:txBody>
                    <a:bodyPr/>
                    <a:lstStyle/>
                    <a:p>
                      <a:pPr marL="0" lvl="0" indent="0" algn="ctr" rtl="0">
                        <a:spcBef>
                          <a:spcPts val="0"/>
                        </a:spcBef>
                        <a:spcAft>
                          <a:spcPts val="0"/>
                        </a:spcAft>
                        <a:buNone/>
                      </a:pPr>
                      <a:r>
                        <a:rPr lang="zh-CN"/>
                        <a:t>3</a:t>
                      </a:r>
                      <a:endParaRPr lang="zh-CN"/>
                    </a:p>
                  </a:txBody>
                  <a:tcPr marL="91425" marR="91425" marT="91425" marB="91425"/>
                </a:tc>
                <a:tc>
                  <a:txBody>
                    <a:bodyPr/>
                    <a:lstStyle/>
                    <a:p>
                      <a:pPr marL="0" lvl="0" indent="0" algn="ctr" rtl="0">
                        <a:spcBef>
                          <a:spcPts val="0"/>
                        </a:spcBef>
                        <a:spcAft>
                          <a:spcPts val="0"/>
                        </a:spcAft>
                        <a:buNone/>
                      </a:pPr>
                      <a:r>
                        <a:rPr lang="zh-CN"/>
                        <a:t>5</a:t>
                      </a:r>
                      <a:endParaRPr lang="zh-CN"/>
                    </a:p>
                  </a:txBody>
                  <a:tcPr marL="91425" marR="91425" marT="91425" marB="91425"/>
                </a:tc>
                <a:tc>
                  <a:txBody>
                    <a:bodyPr/>
                    <a:lstStyle/>
                    <a:p>
                      <a:pPr marL="0" lvl="0" indent="0" algn="ctr" rtl="0">
                        <a:spcBef>
                          <a:spcPts val="0"/>
                        </a:spcBef>
                        <a:spcAft>
                          <a:spcPts val="0"/>
                        </a:spcAft>
                        <a:buNone/>
                      </a:pPr>
                      <a:r>
                        <a:rPr lang="zh-CN"/>
                        <a:t>1</a:t>
                      </a:r>
                      <a:endParaRPr lang="zh-CN"/>
                    </a:p>
                  </a:txBody>
                  <a:tcPr marL="91425" marR="91425" marT="91425" marB="91425"/>
                </a:tc>
                <a:tc>
                  <a:txBody>
                    <a:bodyPr/>
                    <a:lstStyle/>
                    <a:p>
                      <a:pPr marL="0" lvl="0" indent="0" algn="ctr" rtl="0">
                        <a:spcBef>
                          <a:spcPts val="0"/>
                        </a:spcBef>
                        <a:spcAft>
                          <a:spcPts val="0"/>
                        </a:spcAft>
                        <a:buNone/>
                      </a:pPr>
                      <a:r>
                        <a:rPr lang="zh-CN"/>
                        <a:t>2</a:t>
                      </a:r>
                      <a:endParaRPr lang="zh-CN"/>
                    </a:p>
                  </a:txBody>
                  <a:tcPr marL="91425" marR="91425" marT="91425" marB="91425"/>
                </a:tc>
              </a:tr>
            </a:tbl>
          </a:graphicData>
        </a:graphic>
      </p:graphicFrame>
      <p:sp>
        <p:nvSpPr>
          <p:cNvPr id="726" name="Google Shape;726;p41"/>
          <p:cNvSpPr/>
          <p:nvPr/>
        </p:nvSpPr>
        <p:spPr>
          <a:xfrm>
            <a:off x="1349275" y="4119525"/>
            <a:ext cx="459900" cy="308700"/>
          </a:xfrm>
          <a:prstGeom prst="mathMultiply">
            <a:avLst>
              <a:gd name="adj1" fmla="val 2352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27" name="Google Shape;727;p41"/>
          <p:cNvSpPr txBox="1"/>
          <p:nvPr/>
        </p:nvSpPr>
        <p:spPr>
          <a:xfrm>
            <a:off x="1089425" y="4493125"/>
            <a:ext cx="72390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accent1"/>
                </a:solidFill>
                <a:latin typeface="Lato" panose="020F0502020204030203"/>
                <a:ea typeface="Lato" panose="020F0502020204030203"/>
                <a:cs typeface="Lato" panose="020F0502020204030203"/>
                <a:sym typeface="Lato" panose="020F0502020204030203"/>
              </a:rPr>
              <a:t>       (0)                     (1)                    (2)                     (3)                   (4)                     (5)                    (6)</a:t>
            </a:r>
            <a:endParaRPr sz="1300">
              <a:solidFill>
                <a:schemeClr val="accent1"/>
              </a:solidFill>
              <a:latin typeface="Lato" panose="020F0502020204030203"/>
              <a:ea typeface="Lato" panose="020F0502020204030203"/>
              <a:cs typeface="Lato" panose="020F0502020204030203"/>
              <a:sym typeface="Lato" panose="020F0502020204030203"/>
            </a:endParaRPr>
          </a:p>
        </p:txBody>
      </p:sp>
      <p:sp>
        <p:nvSpPr>
          <p:cNvPr id="728" name="Google Shape;728;p41"/>
          <p:cNvSpPr txBox="1"/>
          <p:nvPr/>
        </p:nvSpPr>
        <p:spPr>
          <a:xfrm>
            <a:off x="824250" y="2164672"/>
            <a:ext cx="3172500" cy="113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The overall complexity: O(n) + O(nlogn)</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When n -&gt; +∞, (nlog</a:t>
            </a:r>
            <a:r>
              <a:rPr lang="en-US" altLang="zh-CN" sz="1300" baseline="-25000">
                <a:solidFill>
                  <a:schemeClr val="dk2"/>
                </a:solidFill>
                <a:latin typeface="Lato" panose="020F0502020204030203"/>
                <a:ea typeface="Lato" panose="020F0502020204030203"/>
                <a:cs typeface="Lato" panose="020F0502020204030203"/>
                <a:sym typeface="Lato" panose="020F0502020204030203"/>
              </a:rPr>
              <a:t>2</a:t>
            </a:r>
            <a:r>
              <a:rPr lang="zh-CN" sz="1300">
                <a:solidFill>
                  <a:schemeClr val="dk2"/>
                </a:solidFill>
                <a:latin typeface="Lato" panose="020F0502020204030203"/>
                <a:ea typeface="Lato" panose="020F0502020204030203"/>
                <a:cs typeface="Lato" panose="020F0502020204030203"/>
                <a:sym typeface="Lato" panose="020F0502020204030203"/>
              </a:rPr>
              <a:t>n)’s growth rate far exceeds (n)</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So the time complexity: O(nlogn)</a:t>
            </a:r>
            <a:endParaRPr sz="1300">
              <a:solidFill>
                <a:schemeClr val="dk2"/>
              </a:solidFill>
              <a:latin typeface="Lato" panose="020F0502020204030203"/>
              <a:ea typeface="Lato" panose="020F0502020204030203"/>
              <a:cs typeface="Lato" panose="020F0502020204030203"/>
              <a:sym typeface="Lato" panose="020F0502020204030203"/>
            </a:endParaRPr>
          </a:p>
        </p:txBody>
      </p:sp>
      <p:sp>
        <p:nvSpPr>
          <p:cNvPr id="729" name="Google Shape;729;p41"/>
          <p:cNvSpPr txBox="1"/>
          <p:nvPr/>
        </p:nvSpPr>
        <p:spPr>
          <a:xfrm>
            <a:off x="288900" y="4471975"/>
            <a:ext cx="6924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600" b="1">
                <a:solidFill>
                  <a:srgbClr val="FF9900"/>
                </a:solidFill>
                <a:latin typeface="Lato" panose="020F0502020204030203"/>
                <a:ea typeface="Lato" panose="020F0502020204030203"/>
                <a:cs typeface="Lato" panose="020F0502020204030203"/>
                <a:sym typeface="Lato" panose="020F0502020204030203"/>
              </a:rPr>
              <a:t>index</a:t>
            </a:r>
            <a:endParaRPr sz="1600" b="1">
              <a:solidFill>
                <a:srgbClr val="FF99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733" name="Shape 733"/>
        <p:cNvGrpSpPr/>
        <p:nvPr/>
      </p:nvGrpSpPr>
      <p:grpSpPr>
        <a:xfrm>
          <a:off x="0" y="0"/>
          <a:ext cx="0" cy="0"/>
          <a:chOff x="0" y="0"/>
          <a:chExt cx="0" cy="0"/>
        </a:xfrm>
      </p:grpSpPr>
      <p:sp>
        <p:nvSpPr>
          <p:cNvPr id="734" name="Google Shape;734;p42"/>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a:t>
            </a:r>
            <a:r>
              <a:rPr lang="zh-CN" sz="2940"/>
              <a:t>Implement</a:t>
            </a:r>
            <a:endParaRPr sz="2940"/>
          </a:p>
        </p:txBody>
      </p:sp>
      <p:sp>
        <p:nvSpPr>
          <p:cNvPr id="735" name="Google Shape;735;p42"/>
          <p:cNvSpPr txBox="1"/>
          <p:nvPr>
            <p:ph type="body" idx="1"/>
          </p:nvPr>
        </p:nvSpPr>
        <p:spPr>
          <a:xfrm>
            <a:off x="1212325" y="1275725"/>
            <a:ext cx="5082600" cy="8673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How to implement a heap sort? </a:t>
            </a:r>
            <a:endParaRPr sz="1445" b="1"/>
          </a:p>
          <a:p>
            <a:pPr marL="0" lvl="0" indent="0" algn="l" rtl="0">
              <a:lnSpc>
                <a:spcPct val="95000"/>
              </a:lnSpc>
              <a:spcBef>
                <a:spcPts val="1200"/>
              </a:spcBef>
              <a:spcAft>
                <a:spcPts val="0"/>
              </a:spcAft>
              <a:buSzPts val="770"/>
              <a:buNone/>
            </a:pPr>
            <a:r>
              <a:rPr lang="zh-CN" sz="1445"/>
              <a:t>Initialize and define a list, with the index starting from 1</a:t>
            </a:r>
            <a:endParaRPr sz="1445"/>
          </a:p>
          <a:p>
            <a:pPr marL="0" lvl="0" indent="0" algn="l" rtl="0">
              <a:lnSpc>
                <a:spcPct val="95000"/>
              </a:lnSpc>
              <a:spcBef>
                <a:spcPts val="1200"/>
              </a:spcBef>
              <a:spcAft>
                <a:spcPts val="1200"/>
              </a:spcAft>
              <a:buSzPts val="770"/>
              <a:buNone/>
            </a:pPr>
            <a:endParaRPr sz="1320" b="1"/>
          </a:p>
        </p:txBody>
      </p:sp>
      <p:sp>
        <p:nvSpPr>
          <p:cNvPr id="736" name="Google Shape;736;p42"/>
          <p:cNvSpPr/>
          <p:nvPr/>
        </p:nvSpPr>
        <p:spPr>
          <a:xfrm>
            <a:off x="1280775" y="2021375"/>
            <a:ext cx="6672900" cy="2434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class MinHeap:</a:t>
            </a:r>
            <a:endParaRPr>
              <a:latin typeface="Lato" panose="020F0502020204030203"/>
              <a:ea typeface="Lato" panose="020F0502020204030203"/>
              <a:cs typeface="Lato" panose="020F0502020204030203"/>
              <a:sym typeface="Lato" panose="020F0502020204030203"/>
            </a:endParaRPr>
          </a:p>
          <a:p>
            <a:pPr marL="0" lvl="0" indent="45720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def __init__(self, arr = None):  </a:t>
            </a:r>
            <a:endParaRPr>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en-US" altLang="zh-CN">
                <a:solidFill>
                  <a:schemeClr val="tx1"/>
                </a:solidFill>
                <a:latin typeface="Lato" panose="020F0502020204030203"/>
                <a:ea typeface="Lato" panose="020F0502020204030203"/>
                <a:cs typeface="Lato" panose="020F0502020204030203"/>
                <a:sym typeface="Lato" panose="020F0502020204030203"/>
              </a:rPr>
              <a:t># Using index 0 as None; data starts at index 1</a:t>
            </a:r>
            <a:endParaRPr lang="en-US" altLang="zh-CN">
              <a:solidFill>
                <a:schemeClr val="tx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 if arr is None:</a:t>
            </a:r>
            <a:endParaRPr>
              <a:latin typeface="Lato" panose="020F0502020204030203"/>
              <a:ea typeface="Lato" panose="020F0502020204030203"/>
              <a:cs typeface="Lato" panose="020F0502020204030203"/>
              <a:sym typeface="Lato" panose="020F0502020204030203"/>
            </a:endParaRPr>
          </a:p>
          <a:p>
            <a:pPr marL="914400" lvl="0" indent="45720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self.arr = </a:t>
            </a:r>
            <a:r>
              <a:rPr lang="zh-CN">
                <a:latin typeface="Lato" panose="020F0502020204030203"/>
                <a:ea typeface="Lato" panose="020F0502020204030203"/>
                <a:cs typeface="Lato" panose="020F0502020204030203"/>
                <a:sym typeface="Lato" panose="020F0502020204030203"/>
              </a:rPr>
              <a:t>[None]</a:t>
            </a:r>
            <a:endParaRPr>
              <a:latin typeface="Lato" panose="020F0502020204030203"/>
              <a:ea typeface="Lato" panose="020F0502020204030203"/>
              <a:cs typeface="Lato" panose="020F0502020204030203"/>
              <a:sym typeface="Lato" panose="020F0502020204030203"/>
            </a:endParaRPr>
          </a:p>
          <a:p>
            <a:pPr marL="91440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else:</a:t>
            </a:r>
            <a:endParaRPr>
              <a:latin typeface="Lato" panose="020F0502020204030203"/>
              <a:ea typeface="Lato" panose="020F0502020204030203"/>
              <a:cs typeface="Lato" panose="020F0502020204030203"/>
              <a:sym typeface="Lato" panose="020F0502020204030203"/>
            </a:endParaRPr>
          </a:p>
          <a:p>
            <a:pPr marL="914400" lvl="0" indent="45720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self.arr = [None] + arr</a:t>
            </a:r>
            <a:endParaRPr>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740" name="Shape 740"/>
        <p:cNvGrpSpPr/>
        <p:nvPr/>
      </p:nvGrpSpPr>
      <p:grpSpPr>
        <a:xfrm>
          <a:off x="0" y="0"/>
          <a:ext cx="0" cy="0"/>
          <a:chOff x="0" y="0"/>
          <a:chExt cx="0" cy="0"/>
        </a:xfrm>
      </p:grpSpPr>
      <p:sp>
        <p:nvSpPr>
          <p:cNvPr id="741" name="Google Shape;741;p43"/>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Implement</a:t>
            </a:r>
            <a:endParaRPr sz="2940"/>
          </a:p>
        </p:txBody>
      </p:sp>
      <p:sp>
        <p:nvSpPr>
          <p:cNvPr id="742" name="Google Shape;742;p43"/>
          <p:cNvSpPr txBox="1"/>
          <p:nvPr>
            <p:ph type="body" idx="1"/>
          </p:nvPr>
        </p:nvSpPr>
        <p:spPr>
          <a:xfrm>
            <a:off x="1212325" y="1275725"/>
            <a:ext cx="5082600" cy="8673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How to implement a heap sort? </a:t>
            </a:r>
            <a:endParaRPr sz="1445" b="1"/>
          </a:p>
          <a:p>
            <a:pPr marL="0" lvl="0" indent="0" algn="l" rtl="0">
              <a:lnSpc>
                <a:spcPct val="95000"/>
              </a:lnSpc>
              <a:spcBef>
                <a:spcPts val="1200"/>
              </a:spcBef>
              <a:spcAft>
                <a:spcPts val="1200"/>
              </a:spcAft>
              <a:buSzPts val="770"/>
              <a:buNone/>
            </a:pPr>
            <a:r>
              <a:rPr lang="zh-CN" sz="1445"/>
              <a:t>The MinHeap class has five methods.</a:t>
            </a:r>
            <a:endParaRPr sz="1320" b="1"/>
          </a:p>
        </p:txBody>
      </p:sp>
      <p:sp>
        <p:nvSpPr>
          <p:cNvPr id="743" name="Google Shape;743;p43"/>
          <p:cNvSpPr/>
          <p:nvPr/>
        </p:nvSpPr>
        <p:spPr>
          <a:xfrm>
            <a:off x="1280775" y="2021375"/>
            <a:ext cx="6672900" cy="2762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44" name="Google Shape;744;p43"/>
          <p:cNvSpPr/>
          <p:nvPr/>
        </p:nvSpPr>
        <p:spPr>
          <a:xfrm>
            <a:off x="1417750" y="2204000"/>
            <a:ext cx="289200" cy="159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45" name="Google Shape;745;p43"/>
          <p:cNvSpPr/>
          <p:nvPr/>
        </p:nvSpPr>
        <p:spPr>
          <a:xfrm>
            <a:off x="1417750" y="2204000"/>
            <a:ext cx="289200" cy="159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46" name="Google Shape;746;p43"/>
          <p:cNvSpPr/>
          <p:nvPr/>
        </p:nvSpPr>
        <p:spPr>
          <a:xfrm>
            <a:off x="1417750" y="2683350"/>
            <a:ext cx="289200" cy="159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47" name="Google Shape;747;p43"/>
          <p:cNvSpPr/>
          <p:nvPr/>
        </p:nvSpPr>
        <p:spPr>
          <a:xfrm>
            <a:off x="1417750" y="3162700"/>
            <a:ext cx="289200" cy="159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48" name="Google Shape;748;p43"/>
          <p:cNvSpPr/>
          <p:nvPr/>
        </p:nvSpPr>
        <p:spPr>
          <a:xfrm>
            <a:off x="1417750" y="3664900"/>
            <a:ext cx="289200" cy="159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49" name="Google Shape;749;p43"/>
          <p:cNvSpPr/>
          <p:nvPr/>
        </p:nvSpPr>
        <p:spPr>
          <a:xfrm>
            <a:off x="1417750" y="4167100"/>
            <a:ext cx="289200" cy="159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50" name="Google Shape;750;p43"/>
          <p:cNvSpPr txBox="1"/>
          <p:nvPr/>
        </p:nvSpPr>
        <p:spPr>
          <a:xfrm>
            <a:off x="1859075" y="2067200"/>
            <a:ext cx="3317400" cy="2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700">
                <a:solidFill>
                  <a:srgbClr val="FF9900"/>
                </a:solidFill>
                <a:latin typeface="Lato" panose="020F0502020204030203"/>
                <a:ea typeface="Lato" panose="020F0502020204030203"/>
                <a:cs typeface="Lato" panose="020F0502020204030203"/>
                <a:sym typeface="Lato" panose="020F0502020204030203"/>
              </a:rPr>
              <a:t>heapify(self, arr, n, i)</a:t>
            </a:r>
            <a:endParaRPr sz="1700">
              <a:solidFill>
                <a:srgbClr val="FF9900"/>
              </a:solidFill>
              <a:latin typeface="Lato" panose="020F0502020204030203"/>
              <a:ea typeface="Lato" panose="020F0502020204030203"/>
              <a:cs typeface="Lato" panose="020F0502020204030203"/>
              <a:sym typeface="Lato" panose="020F0502020204030203"/>
            </a:endParaRPr>
          </a:p>
        </p:txBody>
      </p:sp>
      <p:sp>
        <p:nvSpPr>
          <p:cNvPr id="751" name="Google Shape;751;p43"/>
          <p:cNvSpPr txBox="1"/>
          <p:nvPr/>
        </p:nvSpPr>
        <p:spPr>
          <a:xfrm>
            <a:off x="1859075" y="2571750"/>
            <a:ext cx="2039100" cy="3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700">
                <a:solidFill>
                  <a:srgbClr val="FF9900"/>
                </a:solidFill>
                <a:latin typeface="Lato" panose="020F0502020204030203"/>
                <a:ea typeface="Lato" panose="020F0502020204030203"/>
                <a:cs typeface="Lato" panose="020F0502020204030203"/>
                <a:sym typeface="Lato" panose="020F0502020204030203"/>
              </a:rPr>
              <a:t>heapSort(self)</a:t>
            </a:r>
            <a:endParaRPr sz="1700">
              <a:solidFill>
                <a:srgbClr val="FF9900"/>
              </a:solidFill>
              <a:latin typeface="Lato" panose="020F0502020204030203"/>
              <a:ea typeface="Lato" panose="020F0502020204030203"/>
              <a:cs typeface="Lato" panose="020F0502020204030203"/>
              <a:sym typeface="Lato" panose="020F0502020204030203"/>
            </a:endParaRPr>
          </a:p>
        </p:txBody>
      </p:sp>
      <p:sp>
        <p:nvSpPr>
          <p:cNvPr id="752" name="Google Shape;752;p43"/>
          <p:cNvSpPr txBox="1"/>
          <p:nvPr/>
        </p:nvSpPr>
        <p:spPr>
          <a:xfrm>
            <a:off x="1859075" y="3002925"/>
            <a:ext cx="1445700" cy="37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700">
                <a:solidFill>
                  <a:srgbClr val="FF9900"/>
                </a:solidFill>
                <a:latin typeface="Lato" panose="020F0502020204030203"/>
                <a:ea typeface="Lato" panose="020F0502020204030203"/>
                <a:cs typeface="Lato" panose="020F0502020204030203"/>
                <a:sym typeface="Lato" panose="020F0502020204030203"/>
              </a:rPr>
              <a:t>get_min(self)</a:t>
            </a:r>
            <a:endParaRPr sz="1700">
              <a:solidFill>
                <a:srgbClr val="FF9900"/>
              </a:solidFill>
              <a:latin typeface="Lato" panose="020F0502020204030203"/>
              <a:ea typeface="Lato" panose="020F0502020204030203"/>
              <a:cs typeface="Lato" panose="020F0502020204030203"/>
              <a:sym typeface="Lato" panose="020F0502020204030203"/>
            </a:endParaRPr>
          </a:p>
        </p:txBody>
      </p:sp>
      <p:sp>
        <p:nvSpPr>
          <p:cNvPr id="753" name="Google Shape;753;p43"/>
          <p:cNvSpPr txBox="1"/>
          <p:nvPr/>
        </p:nvSpPr>
        <p:spPr>
          <a:xfrm>
            <a:off x="1859075" y="3535600"/>
            <a:ext cx="1635900" cy="41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700">
                <a:solidFill>
                  <a:srgbClr val="FF9900"/>
                </a:solidFill>
                <a:latin typeface="Lato" panose="020F0502020204030203"/>
                <a:ea typeface="Lato" panose="020F0502020204030203"/>
                <a:cs typeface="Lato" panose="020F0502020204030203"/>
                <a:sym typeface="Lato" panose="020F0502020204030203"/>
              </a:rPr>
              <a:t>insert(self, val)</a:t>
            </a:r>
            <a:endParaRPr sz="1700">
              <a:solidFill>
                <a:srgbClr val="FF9900"/>
              </a:solidFill>
              <a:latin typeface="Lato" panose="020F0502020204030203"/>
              <a:ea typeface="Lato" panose="020F0502020204030203"/>
              <a:cs typeface="Lato" panose="020F0502020204030203"/>
              <a:sym typeface="Lato" panose="020F0502020204030203"/>
            </a:endParaRPr>
          </a:p>
        </p:txBody>
      </p:sp>
      <p:sp>
        <p:nvSpPr>
          <p:cNvPr id="754" name="Google Shape;754;p43"/>
          <p:cNvSpPr txBox="1"/>
          <p:nvPr/>
        </p:nvSpPr>
        <p:spPr>
          <a:xfrm>
            <a:off x="1859075" y="4014850"/>
            <a:ext cx="1833600" cy="37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700">
                <a:solidFill>
                  <a:srgbClr val="FF9900"/>
                </a:solidFill>
                <a:latin typeface="Lato" panose="020F0502020204030203"/>
                <a:ea typeface="Lato" panose="020F0502020204030203"/>
                <a:cs typeface="Lato" panose="020F0502020204030203"/>
                <a:sym typeface="Lato" panose="020F0502020204030203"/>
              </a:rPr>
              <a:t>remove_min(self)</a:t>
            </a:r>
            <a:endParaRPr sz="1700">
              <a:solidFill>
                <a:srgbClr val="FF9900"/>
              </a:solidFill>
              <a:latin typeface="Lato" panose="020F0502020204030203"/>
              <a:ea typeface="Lato" panose="020F0502020204030203"/>
              <a:cs typeface="Lato" panose="020F0502020204030203"/>
              <a:sym typeface="Lato" panose="020F0502020204030203"/>
            </a:endParaRPr>
          </a:p>
        </p:txBody>
      </p:sp>
      <p:sp>
        <p:nvSpPr>
          <p:cNvPr id="755" name="Google Shape;755;p43"/>
          <p:cNvSpPr txBox="1"/>
          <p:nvPr/>
        </p:nvSpPr>
        <p:spPr>
          <a:xfrm>
            <a:off x="1706950" y="2333325"/>
            <a:ext cx="5432700" cy="3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dk1"/>
                </a:solidFill>
                <a:latin typeface="Lato" panose="020F0502020204030203"/>
                <a:ea typeface="Lato" panose="020F0502020204030203"/>
                <a:cs typeface="Lato" panose="020F0502020204030203"/>
                <a:sym typeface="Lato" panose="020F0502020204030203"/>
              </a:rPr>
              <a:t>The construction of the minimum heap satisfies the heap properties</a:t>
            </a:r>
            <a:endParaRPr sz="1300">
              <a:solidFill>
                <a:schemeClr val="dk1"/>
              </a:solidFill>
              <a:latin typeface="Lato" panose="020F0502020204030203"/>
              <a:ea typeface="Lato" panose="020F0502020204030203"/>
              <a:cs typeface="Lato" panose="020F0502020204030203"/>
              <a:sym typeface="Lato" panose="020F0502020204030203"/>
            </a:endParaRPr>
          </a:p>
        </p:txBody>
      </p:sp>
      <p:sp>
        <p:nvSpPr>
          <p:cNvPr id="756" name="Google Shape;756;p43"/>
          <p:cNvSpPr txBox="1"/>
          <p:nvPr/>
        </p:nvSpPr>
        <p:spPr>
          <a:xfrm>
            <a:off x="1706950" y="2844450"/>
            <a:ext cx="5432700" cy="3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dk1"/>
                </a:solidFill>
                <a:latin typeface="Lato" panose="020F0502020204030203"/>
                <a:ea typeface="Lato" panose="020F0502020204030203"/>
                <a:cs typeface="Lato" panose="020F0502020204030203"/>
                <a:sym typeface="Lato" panose="020F0502020204030203"/>
              </a:rPr>
              <a:t>Perform heap sort</a:t>
            </a:r>
            <a:endParaRPr sz="1300">
              <a:solidFill>
                <a:schemeClr val="dk1"/>
              </a:solidFill>
              <a:latin typeface="Lato" panose="020F0502020204030203"/>
              <a:ea typeface="Lato" panose="020F0502020204030203"/>
              <a:cs typeface="Lato" panose="020F0502020204030203"/>
              <a:sym typeface="Lato" panose="020F0502020204030203"/>
            </a:endParaRPr>
          </a:p>
        </p:txBody>
      </p:sp>
      <p:sp>
        <p:nvSpPr>
          <p:cNvPr id="757" name="Google Shape;757;p43"/>
          <p:cNvSpPr txBox="1"/>
          <p:nvPr/>
        </p:nvSpPr>
        <p:spPr>
          <a:xfrm>
            <a:off x="1706950" y="3293300"/>
            <a:ext cx="5432700" cy="3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dk1"/>
                </a:solidFill>
                <a:latin typeface="Lato" panose="020F0502020204030203"/>
                <a:ea typeface="Lato" panose="020F0502020204030203"/>
                <a:cs typeface="Lato" panose="020F0502020204030203"/>
                <a:sym typeface="Lato" panose="020F0502020204030203"/>
              </a:rPr>
              <a:t>Obtain the minimum value in the heap</a:t>
            </a:r>
            <a:endParaRPr sz="1300">
              <a:solidFill>
                <a:schemeClr val="dk1"/>
              </a:solidFill>
              <a:latin typeface="Lato" panose="020F0502020204030203"/>
              <a:ea typeface="Lato" panose="020F0502020204030203"/>
              <a:cs typeface="Lato" panose="020F0502020204030203"/>
              <a:sym typeface="Lato" panose="020F0502020204030203"/>
            </a:endParaRPr>
          </a:p>
        </p:txBody>
      </p:sp>
      <p:sp>
        <p:nvSpPr>
          <p:cNvPr id="758" name="Google Shape;758;p43"/>
          <p:cNvSpPr txBox="1"/>
          <p:nvPr/>
        </p:nvSpPr>
        <p:spPr>
          <a:xfrm>
            <a:off x="1706950" y="3794350"/>
            <a:ext cx="5432700" cy="3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dk1"/>
                </a:solidFill>
                <a:latin typeface="Lato" panose="020F0502020204030203"/>
                <a:ea typeface="Lato" panose="020F0502020204030203"/>
                <a:cs typeface="Lato" panose="020F0502020204030203"/>
                <a:sym typeface="Lato" panose="020F0502020204030203"/>
              </a:rPr>
              <a:t>Insert a new element into the heap</a:t>
            </a:r>
            <a:endParaRPr sz="1300">
              <a:solidFill>
                <a:schemeClr val="dk1"/>
              </a:solidFill>
              <a:latin typeface="Lato" panose="020F0502020204030203"/>
              <a:ea typeface="Lato" panose="020F0502020204030203"/>
              <a:cs typeface="Lato" panose="020F0502020204030203"/>
              <a:sym typeface="Lato" panose="020F0502020204030203"/>
            </a:endParaRPr>
          </a:p>
        </p:txBody>
      </p:sp>
      <p:sp>
        <p:nvSpPr>
          <p:cNvPr id="759" name="Google Shape;759;p43"/>
          <p:cNvSpPr txBox="1"/>
          <p:nvPr/>
        </p:nvSpPr>
        <p:spPr>
          <a:xfrm>
            <a:off x="1706950" y="4359975"/>
            <a:ext cx="5432700" cy="3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solidFill>
                  <a:schemeClr val="dk1"/>
                </a:solidFill>
                <a:latin typeface="Lato" panose="020F0502020204030203"/>
                <a:ea typeface="Lato" panose="020F0502020204030203"/>
                <a:cs typeface="Lato" panose="020F0502020204030203"/>
                <a:sym typeface="Lato" panose="020F0502020204030203"/>
              </a:rPr>
              <a:t>remove the minimum value in the heap </a:t>
            </a:r>
            <a:endParaRPr sz="1300">
              <a:solidFill>
                <a:schemeClr val="dk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763" name="Shape 763"/>
        <p:cNvGrpSpPr/>
        <p:nvPr/>
      </p:nvGrpSpPr>
      <p:grpSpPr>
        <a:xfrm>
          <a:off x="0" y="0"/>
          <a:ext cx="0" cy="0"/>
          <a:chOff x="0" y="0"/>
          <a:chExt cx="0" cy="0"/>
        </a:xfrm>
      </p:grpSpPr>
      <p:sp>
        <p:nvSpPr>
          <p:cNvPr id="764" name="Google Shape;764;p44"/>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Implement</a:t>
            </a:r>
            <a:endParaRPr sz="2940"/>
          </a:p>
        </p:txBody>
      </p:sp>
      <p:sp>
        <p:nvSpPr>
          <p:cNvPr id="765" name="Google Shape;765;p44"/>
          <p:cNvSpPr txBox="1"/>
          <p:nvPr>
            <p:ph type="body" idx="1"/>
          </p:nvPr>
        </p:nvSpPr>
        <p:spPr>
          <a:xfrm>
            <a:off x="101450" y="1268150"/>
            <a:ext cx="2906400" cy="32946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How to implement a heap sort? </a:t>
            </a:r>
            <a:endParaRPr sz="1445" b="1"/>
          </a:p>
          <a:p>
            <a:pPr marL="0" lvl="0" indent="0" algn="l" rtl="0">
              <a:lnSpc>
                <a:spcPct val="95000"/>
              </a:lnSpc>
              <a:spcBef>
                <a:spcPts val="1200"/>
              </a:spcBef>
              <a:spcAft>
                <a:spcPts val="0"/>
              </a:spcAft>
              <a:buSzPts val="770"/>
              <a:buNone/>
            </a:pPr>
            <a:r>
              <a:rPr lang="zh-CN" sz="1445"/>
              <a:t>The MinHeap class has five methods.</a:t>
            </a:r>
            <a:endParaRPr sz="1445"/>
          </a:p>
          <a:p>
            <a:pPr marL="0" lvl="0" indent="0" algn="l" rtl="0">
              <a:lnSpc>
                <a:spcPct val="100000"/>
              </a:lnSpc>
              <a:spcBef>
                <a:spcPts val="1200"/>
              </a:spcBef>
              <a:spcAft>
                <a:spcPts val="0"/>
              </a:spcAft>
              <a:buNone/>
            </a:pPr>
            <a:r>
              <a:rPr lang="zh-CN" sz="1700">
                <a:solidFill>
                  <a:srgbClr val="FF9900"/>
                </a:solidFill>
              </a:rPr>
              <a:t>*</a:t>
            </a:r>
            <a:r>
              <a:rPr lang="zh-CN" sz="1700">
                <a:solidFill>
                  <a:schemeClr val="dk2"/>
                </a:solidFill>
              </a:rPr>
              <a:t>heapify(self, arr, n, i)</a:t>
            </a:r>
            <a:endParaRPr sz="1700">
              <a:solidFill>
                <a:schemeClr val="dk2"/>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BBEBF"/>
                </a:solidFill>
              </a:rPr>
              <a:t>heapSort(self)</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BBEBF"/>
                </a:solidFill>
              </a:rPr>
              <a:t>get_min(self)</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7B7B7"/>
                </a:solidFill>
              </a:rPr>
              <a:t>insert(self, val)</a:t>
            </a:r>
            <a:endParaRPr sz="1700">
              <a:solidFill>
                <a:srgbClr val="B7B7B7"/>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CCCCCC"/>
                </a:solidFill>
              </a:rPr>
              <a:t>remove_min(self)</a:t>
            </a:r>
            <a:endParaRPr sz="1700">
              <a:solidFill>
                <a:srgbClr val="CCCCCC"/>
              </a:solidFill>
            </a:endParaRPr>
          </a:p>
          <a:p>
            <a:pPr marL="0" lvl="0" indent="0" algn="l" rtl="0">
              <a:lnSpc>
                <a:spcPct val="95000"/>
              </a:lnSpc>
              <a:spcBef>
                <a:spcPts val="0"/>
              </a:spcBef>
              <a:spcAft>
                <a:spcPts val="1200"/>
              </a:spcAft>
              <a:buSzPts val="770"/>
              <a:buNone/>
            </a:pPr>
            <a:endParaRPr sz="1320" b="1"/>
          </a:p>
        </p:txBody>
      </p:sp>
      <p:sp>
        <p:nvSpPr>
          <p:cNvPr id="766" name="Google Shape;766;p44"/>
          <p:cNvSpPr/>
          <p:nvPr/>
        </p:nvSpPr>
        <p:spPr>
          <a:xfrm>
            <a:off x="2756900" y="1123425"/>
            <a:ext cx="6239100" cy="3941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67" name="Google Shape;767;p44"/>
          <p:cNvSpPr txBox="1"/>
          <p:nvPr/>
        </p:nvSpPr>
        <p:spPr>
          <a:xfrm>
            <a:off x="2756900" y="1123425"/>
            <a:ext cx="6330300" cy="389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class MinHeap:</a:t>
            </a:r>
            <a:endParaRPr>
              <a:latin typeface="Lato" panose="020F0502020204030203"/>
              <a:ea typeface="Lato" panose="020F0502020204030203"/>
              <a:cs typeface="Lato" panose="020F0502020204030203"/>
              <a:sym typeface="Lato" panose="020F0502020204030203"/>
            </a:endParaRPr>
          </a:p>
          <a:p>
            <a:pPr marL="0" lvl="0" indent="45720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def __init__(self, arr = None):</a:t>
            </a:r>
            <a:endParaRPr>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rgbClr val="B7B7B7"/>
                </a:solidFill>
                <a:latin typeface="Lato" panose="020F0502020204030203"/>
                <a:ea typeface="Lato" panose="020F0502020204030203"/>
                <a:cs typeface="Lato" panose="020F0502020204030203"/>
                <a:sym typeface="Lato" panose="020F0502020204030203"/>
              </a:rPr>
              <a:t># …</a:t>
            </a:r>
            <a:endParaRPr>
              <a:solidFill>
                <a:srgbClr val="B7B7B7"/>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if len(self.arr) &gt; 1:    </a:t>
            </a:r>
            <a:r>
              <a:rPr lang="zh-CN">
                <a:solidFill>
                  <a:schemeClr val="dk1"/>
                </a:solidFill>
                <a:latin typeface="Lato" panose="020F0502020204030203"/>
                <a:ea typeface="Lato" panose="020F0502020204030203"/>
                <a:cs typeface="Lato" panose="020F0502020204030203"/>
                <a:sym typeface="Lato" panose="020F0502020204030203"/>
              </a:rPr>
              <a:t># Start building the heap</a:t>
            </a:r>
            <a:endParaRPr>
              <a:solidFill>
                <a:schemeClr val="dk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n = len(self.arr) - 1    </a:t>
            </a:r>
            <a:r>
              <a:rPr lang="zh-CN">
                <a:solidFill>
                  <a:schemeClr val="dk1"/>
                </a:solidFill>
                <a:latin typeface="Lato" panose="020F0502020204030203"/>
                <a:ea typeface="Lato" panose="020F0502020204030203"/>
                <a:cs typeface="Lato" panose="020F0502020204030203"/>
                <a:sym typeface="Lato" panose="020F0502020204030203"/>
              </a:rPr>
              <a:t># The true total number of elements</a:t>
            </a:r>
            <a:endParaRPr>
              <a:solidFill>
                <a:schemeClr val="dk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for i in range(n // 2, 0, -1):  </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self.heapify(self.arr, n, i)</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def heapify(self, arr, n, i):</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smallest = i       </a:t>
            </a:r>
            <a:r>
              <a:rPr lang="zh-CN">
                <a:solidFill>
                  <a:schemeClr val="dk1"/>
                </a:solidFill>
                <a:latin typeface="Lato" panose="020F0502020204030203"/>
                <a:ea typeface="Lato" panose="020F0502020204030203"/>
                <a:cs typeface="Lato" panose="020F0502020204030203"/>
                <a:sym typeface="Lato" panose="020F0502020204030203"/>
              </a:rPr>
              <a:t># Suppose i is the smallest</a:t>
            </a:r>
            <a:endParaRPr>
              <a:solidFill>
                <a:schemeClr val="dk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l = 2 * i            </a:t>
            </a:r>
            <a:r>
              <a:rPr lang="zh-CN">
                <a:solidFill>
                  <a:schemeClr val="dk1"/>
                </a:solidFill>
                <a:latin typeface="Lato" panose="020F0502020204030203"/>
                <a:ea typeface="Lato" panose="020F0502020204030203"/>
                <a:cs typeface="Lato" panose="020F0502020204030203"/>
                <a:sym typeface="Lato" panose="020F0502020204030203"/>
              </a:rPr>
              <a:t># Left subset</a:t>
            </a:r>
            <a:endParaRPr>
              <a:solidFill>
                <a:schemeClr val="dk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r = 2 * i + 1      </a:t>
            </a:r>
            <a:r>
              <a:rPr lang="zh-CN">
                <a:solidFill>
                  <a:schemeClr val="dk1"/>
                </a:solidFill>
                <a:latin typeface="Lato" panose="020F0502020204030203"/>
                <a:ea typeface="Lato" panose="020F0502020204030203"/>
                <a:cs typeface="Lato" panose="020F0502020204030203"/>
                <a:sym typeface="Lato" panose="020F0502020204030203"/>
              </a:rPr>
              <a:t># Right subset</a:t>
            </a:r>
            <a:endParaRPr>
              <a:solidFill>
                <a:schemeClr val="dk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if l &lt;= n and arr[i] &gt; arr[l]:   </a:t>
            </a:r>
            <a:endParaRPr>
              <a:solidFill>
                <a:schemeClr val="dk2"/>
              </a:solidFill>
              <a:latin typeface="Lato" panose="020F0502020204030203"/>
              <a:ea typeface="Lato" panose="020F0502020204030203"/>
              <a:cs typeface="Lato" panose="020F0502020204030203"/>
              <a:sym typeface="Lato" panose="020F0502020204030203"/>
            </a:endParaRPr>
          </a:p>
          <a:p>
            <a:pPr marL="9144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smallest = l </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if r &lt;= n and arr[smallest] &gt; arr[r]: </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smallest = r</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if smallest != i:    </a:t>
            </a:r>
            <a:r>
              <a:rPr lang="zh-CN">
                <a:solidFill>
                  <a:schemeClr val="dk1"/>
                </a:solidFill>
                <a:latin typeface="Lato" panose="020F0502020204030203"/>
                <a:ea typeface="Lato" panose="020F0502020204030203"/>
                <a:cs typeface="Lato" panose="020F0502020204030203"/>
                <a:sym typeface="Lato" panose="020F0502020204030203"/>
              </a:rPr>
              <a:t># </a:t>
            </a:r>
            <a:r>
              <a:rPr lang="en-US" altLang="zh-CN">
                <a:solidFill>
                  <a:schemeClr val="dk1"/>
                </a:solidFill>
                <a:latin typeface="Lato" panose="020F0502020204030203"/>
                <a:ea typeface="Lato" panose="020F0502020204030203"/>
                <a:cs typeface="Lato" panose="020F0502020204030203"/>
                <a:sym typeface="Lato" panose="020F0502020204030203"/>
              </a:rPr>
              <a:t>T</a:t>
            </a:r>
            <a:r>
              <a:rPr lang="zh-CN">
                <a:solidFill>
                  <a:schemeClr val="dk1"/>
                </a:solidFill>
                <a:latin typeface="Lato" panose="020F0502020204030203"/>
                <a:ea typeface="Lato" panose="020F0502020204030203"/>
                <a:cs typeface="Lato" panose="020F0502020204030203"/>
                <a:sym typeface="Lato" panose="020F0502020204030203"/>
              </a:rPr>
              <a:t>he smallest one is not the parent node</a:t>
            </a:r>
            <a:endParaRPr>
              <a:solidFill>
                <a:schemeClr val="dk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arr[i], arr[smallest] = arr[smallest], arr[i]</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self.heapify(arr, n, smallest)</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lt2"/>
                </a:solidFill>
                <a:latin typeface="Lato" panose="020F0502020204030203"/>
                <a:ea typeface="Lato" panose="020F0502020204030203"/>
                <a:cs typeface="Lato" panose="020F0502020204030203"/>
                <a:sym typeface="Lato" panose="020F0502020204030203"/>
              </a:rPr>
              <a:t> </a:t>
            </a:r>
            <a:r>
              <a:rPr lang="zh-CN">
                <a:latin typeface="Lato" panose="020F0502020204030203"/>
                <a:ea typeface="Lato" panose="020F0502020204030203"/>
                <a:cs typeface="Lato" panose="020F0502020204030203"/>
                <a:sym typeface="Lato" panose="020F0502020204030203"/>
              </a:rPr>
              <a:t> </a:t>
            </a:r>
            <a:endParaRPr>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771" name="Shape 771"/>
        <p:cNvGrpSpPr/>
        <p:nvPr/>
      </p:nvGrpSpPr>
      <p:grpSpPr>
        <a:xfrm>
          <a:off x="0" y="0"/>
          <a:ext cx="0" cy="0"/>
          <a:chOff x="0" y="0"/>
          <a:chExt cx="0" cy="0"/>
        </a:xfrm>
      </p:grpSpPr>
      <p:sp>
        <p:nvSpPr>
          <p:cNvPr id="772" name="Google Shape;772;p45"/>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Implement</a:t>
            </a:r>
            <a:endParaRPr sz="2940"/>
          </a:p>
        </p:txBody>
      </p:sp>
      <p:sp>
        <p:nvSpPr>
          <p:cNvPr id="773" name="Google Shape;773;p45"/>
          <p:cNvSpPr txBox="1"/>
          <p:nvPr>
            <p:ph type="body" idx="1"/>
          </p:nvPr>
        </p:nvSpPr>
        <p:spPr>
          <a:xfrm>
            <a:off x="101450" y="1268150"/>
            <a:ext cx="2906400" cy="32946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How to implement a heap sort? </a:t>
            </a:r>
            <a:endParaRPr sz="1445" b="1"/>
          </a:p>
          <a:p>
            <a:pPr marL="0" lvl="0" indent="0" algn="l" rtl="0">
              <a:lnSpc>
                <a:spcPct val="95000"/>
              </a:lnSpc>
              <a:spcBef>
                <a:spcPts val="1200"/>
              </a:spcBef>
              <a:spcAft>
                <a:spcPts val="0"/>
              </a:spcAft>
              <a:buSzPts val="770"/>
              <a:buNone/>
            </a:pPr>
            <a:r>
              <a:rPr lang="zh-CN" sz="1445"/>
              <a:t>The MinHeap class has five methods.</a:t>
            </a:r>
            <a:endParaRPr sz="1445"/>
          </a:p>
          <a:p>
            <a:pPr marL="0" lvl="0" indent="0" algn="l" rtl="0">
              <a:lnSpc>
                <a:spcPct val="100000"/>
              </a:lnSpc>
              <a:spcBef>
                <a:spcPts val="1200"/>
              </a:spcBef>
              <a:spcAft>
                <a:spcPts val="0"/>
              </a:spcAft>
              <a:buNone/>
            </a:pPr>
            <a:r>
              <a:rPr lang="zh-CN" sz="1700">
                <a:solidFill>
                  <a:srgbClr val="FF9900"/>
                </a:solidFill>
              </a:rPr>
              <a:t>*</a:t>
            </a:r>
            <a:r>
              <a:rPr lang="zh-CN" sz="1700">
                <a:solidFill>
                  <a:srgbClr val="BBBEBF"/>
                </a:solidFill>
              </a:rPr>
              <a:t>heapify(self, arr, n, i)</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chemeClr val="dk2"/>
                </a:solidFill>
              </a:rPr>
              <a:t>heapSort(self)</a:t>
            </a:r>
            <a:endParaRPr sz="1700">
              <a:solidFill>
                <a:schemeClr val="dk2"/>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BBEBF"/>
                </a:solidFill>
              </a:rPr>
              <a:t>get_min(self)</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7B7B7"/>
                </a:solidFill>
              </a:rPr>
              <a:t>insert(self, val)</a:t>
            </a:r>
            <a:endParaRPr sz="1700">
              <a:solidFill>
                <a:srgbClr val="B7B7B7"/>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CCCCCC"/>
                </a:solidFill>
              </a:rPr>
              <a:t>remove_min(self)</a:t>
            </a:r>
            <a:endParaRPr sz="1700">
              <a:solidFill>
                <a:srgbClr val="CCCCCC"/>
              </a:solidFill>
            </a:endParaRPr>
          </a:p>
          <a:p>
            <a:pPr marL="0" lvl="0" indent="0" algn="l" rtl="0">
              <a:lnSpc>
                <a:spcPct val="95000"/>
              </a:lnSpc>
              <a:spcBef>
                <a:spcPts val="0"/>
              </a:spcBef>
              <a:spcAft>
                <a:spcPts val="1200"/>
              </a:spcAft>
              <a:buSzPts val="770"/>
              <a:buNone/>
            </a:pPr>
            <a:endParaRPr sz="1320" b="1"/>
          </a:p>
        </p:txBody>
      </p:sp>
      <p:sp>
        <p:nvSpPr>
          <p:cNvPr id="774" name="Google Shape;774;p45"/>
          <p:cNvSpPr/>
          <p:nvPr/>
        </p:nvSpPr>
        <p:spPr>
          <a:xfrm>
            <a:off x="2813685" y="1461770"/>
            <a:ext cx="6266180" cy="2466975"/>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75" name="Google Shape;775;p45"/>
          <p:cNvSpPr txBox="1"/>
          <p:nvPr/>
        </p:nvSpPr>
        <p:spPr>
          <a:xfrm>
            <a:off x="2813685" y="1461770"/>
            <a:ext cx="6330315" cy="252349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class MinHeap:</a:t>
            </a:r>
            <a:endParaRPr>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	</a:t>
            </a:r>
            <a:r>
              <a:rPr lang="zh-CN">
                <a:solidFill>
                  <a:srgbClr val="BBBEBF"/>
                </a:solidFill>
                <a:latin typeface="Lato" panose="020F0502020204030203"/>
                <a:ea typeface="Lato" panose="020F0502020204030203"/>
                <a:cs typeface="Lato" panose="020F0502020204030203"/>
                <a:sym typeface="Lato" panose="020F0502020204030203"/>
              </a:rPr>
              <a:t># …</a:t>
            </a:r>
            <a:endParaRPr>
              <a:solidFill>
                <a:srgbClr val="BBBEBF"/>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def heapSort(self):</a:t>
            </a:r>
            <a:endParaRPr lang="zh-CN">
              <a:solidFill>
                <a:schemeClr val="dk2"/>
              </a:solidFill>
              <a:latin typeface="Lato" panose="020F0502020204030203"/>
              <a:ea typeface="Lato" panose="020F0502020204030203"/>
              <a:cs typeface="Lato" panose="020F0502020204030203"/>
              <a:sym typeface="Lato" panose="020F0502020204030203"/>
            </a:endParaRPr>
          </a:p>
          <a:p>
            <a:pPr marL="457200" lvl="1" indent="457200" algn="l" rtl="0">
              <a:spcBef>
                <a:spcPts val="0"/>
              </a:spcBef>
              <a:spcAft>
                <a:spcPts val="0"/>
              </a:spcAft>
              <a:buNone/>
            </a:pPr>
            <a:r>
              <a:rPr lang="en-US" altLang="zh-CN">
                <a:solidFill>
                  <a:schemeClr val="tx1"/>
                </a:solidFill>
                <a:latin typeface="Lato" panose="020F0502020204030203"/>
                <a:ea typeface="Lato" panose="020F0502020204030203"/>
                <a:cs typeface="Lato" panose="020F0502020204030203"/>
                <a:sym typeface="Lato" panose="020F0502020204030203"/>
              </a:rPr>
              <a:t>"""Returns sorted array (descending order )"""</a:t>
            </a:r>
            <a:endParaRPr lang="en-US" altLang="zh-CN">
              <a:solidFill>
                <a:schemeClr val="tx1"/>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temp_arr = self.arr.copy()</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n = len(temp_arr) - 1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for i in range(n, 1, -1):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tx1"/>
                </a:solidFill>
                <a:latin typeface="Lato" panose="020F0502020204030203"/>
                <a:ea typeface="Lato" panose="020F0502020204030203"/>
                <a:cs typeface="Lato" panose="020F0502020204030203"/>
                <a:sym typeface="Lato" panose="020F0502020204030203"/>
              </a:rPr>
              <a:t> </a:t>
            </a:r>
            <a:r>
              <a:rPr lang="en-US" altLang="zh-CN">
                <a:solidFill>
                  <a:schemeClr val="tx1"/>
                </a:solidFill>
                <a:latin typeface="Lato" panose="020F0502020204030203"/>
                <a:ea typeface="Lato" panose="020F0502020204030203"/>
                <a:cs typeface="Lato" panose="020F0502020204030203"/>
                <a:sym typeface="Lato" panose="020F0502020204030203"/>
              </a:rPr>
              <a:t>            # Move current minimum to the end and heapify the reduced heap</a:t>
            </a: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temp_arr[i], temp_arr[1] = temp_arr[1], temp_arr[i]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self.heapify(temp_arr, i - 1, 1)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return temp_arr[1:]</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lt2"/>
                </a:solidFill>
                <a:latin typeface="Lato" panose="020F0502020204030203"/>
                <a:ea typeface="Lato" panose="020F0502020204030203"/>
                <a:cs typeface="Lato" panose="020F0502020204030203"/>
                <a:sym typeface="Lato" panose="020F0502020204030203"/>
              </a:rPr>
              <a:t> </a:t>
            </a:r>
            <a:r>
              <a:rPr lang="zh-CN">
                <a:latin typeface="Lato" panose="020F0502020204030203"/>
                <a:ea typeface="Lato" panose="020F0502020204030203"/>
                <a:cs typeface="Lato" panose="020F0502020204030203"/>
                <a:sym typeface="Lato" panose="020F0502020204030203"/>
              </a:rPr>
              <a:t> </a:t>
            </a:r>
            <a:endParaRPr>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779" name="Shape 779"/>
        <p:cNvGrpSpPr/>
        <p:nvPr/>
      </p:nvGrpSpPr>
      <p:grpSpPr>
        <a:xfrm>
          <a:off x="0" y="0"/>
          <a:ext cx="0" cy="0"/>
          <a:chOff x="0" y="0"/>
          <a:chExt cx="0" cy="0"/>
        </a:xfrm>
      </p:grpSpPr>
      <p:sp>
        <p:nvSpPr>
          <p:cNvPr id="780" name="Google Shape;780;p46"/>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Implement</a:t>
            </a:r>
            <a:endParaRPr sz="2940"/>
          </a:p>
        </p:txBody>
      </p:sp>
      <p:sp>
        <p:nvSpPr>
          <p:cNvPr id="781" name="Google Shape;781;p46"/>
          <p:cNvSpPr txBox="1"/>
          <p:nvPr>
            <p:ph type="body" idx="1"/>
          </p:nvPr>
        </p:nvSpPr>
        <p:spPr>
          <a:xfrm>
            <a:off x="101450" y="1268150"/>
            <a:ext cx="2906400" cy="32946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How to implement a heap sort? </a:t>
            </a:r>
            <a:endParaRPr sz="1445" b="1"/>
          </a:p>
          <a:p>
            <a:pPr marL="0" lvl="0" indent="0" algn="l" rtl="0">
              <a:lnSpc>
                <a:spcPct val="95000"/>
              </a:lnSpc>
              <a:spcBef>
                <a:spcPts val="1200"/>
              </a:spcBef>
              <a:spcAft>
                <a:spcPts val="0"/>
              </a:spcAft>
              <a:buSzPts val="770"/>
              <a:buNone/>
            </a:pPr>
            <a:r>
              <a:rPr lang="zh-CN" sz="1445"/>
              <a:t>The MinHeap class has five methods.</a:t>
            </a:r>
            <a:endParaRPr sz="1445"/>
          </a:p>
          <a:p>
            <a:pPr marL="0" lvl="0" indent="0" algn="l" rtl="0">
              <a:lnSpc>
                <a:spcPct val="100000"/>
              </a:lnSpc>
              <a:spcBef>
                <a:spcPts val="1200"/>
              </a:spcBef>
              <a:spcAft>
                <a:spcPts val="0"/>
              </a:spcAft>
              <a:buNone/>
            </a:pPr>
            <a:r>
              <a:rPr lang="zh-CN" sz="1700">
                <a:solidFill>
                  <a:srgbClr val="FF9900"/>
                </a:solidFill>
              </a:rPr>
              <a:t>*</a:t>
            </a:r>
            <a:r>
              <a:rPr lang="zh-CN" sz="1700">
                <a:solidFill>
                  <a:srgbClr val="BBBEBF"/>
                </a:solidFill>
              </a:rPr>
              <a:t>heapify(self, arr, n, i)</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7B7B7"/>
                </a:solidFill>
              </a:rPr>
              <a:t>heapSort(self)</a:t>
            </a:r>
            <a:endParaRPr sz="1700">
              <a:solidFill>
                <a:srgbClr val="B7B7B7"/>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chemeClr val="dk2"/>
                </a:solidFill>
              </a:rPr>
              <a:t>get_min(self)</a:t>
            </a:r>
            <a:endParaRPr sz="1700">
              <a:solidFill>
                <a:schemeClr val="dk2"/>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7B7B7"/>
                </a:solidFill>
              </a:rPr>
              <a:t>insert(self, val)</a:t>
            </a:r>
            <a:endParaRPr sz="1700">
              <a:solidFill>
                <a:srgbClr val="B7B7B7"/>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CCCCCC"/>
                </a:solidFill>
              </a:rPr>
              <a:t>remove_min(self)</a:t>
            </a:r>
            <a:r>
              <a:rPr lang="en-US" altLang="zh-CN" sz="1700">
                <a:solidFill>
                  <a:srgbClr val="CCCCCC"/>
                </a:solidFill>
              </a:rPr>
              <a:t> </a:t>
            </a:r>
            <a:endParaRPr lang="en-US" altLang="zh-CN" sz="1700">
              <a:solidFill>
                <a:srgbClr val="CCCCCC"/>
              </a:solidFill>
            </a:endParaRPr>
          </a:p>
          <a:p>
            <a:pPr marL="0" lvl="0" indent="0" algn="l" rtl="0">
              <a:lnSpc>
                <a:spcPct val="100000"/>
              </a:lnSpc>
              <a:spcBef>
                <a:spcPts val="0"/>
              </a:spcBef>
              <a:spcAft>
                <a:spcPts val="0"/>
              </a:spcAft>
              <a:buNone/>
            </a:pPr>
            <a:endParaRPr sz="1700">
              <a:solidFill>
                <a:srgbClr val="CCCCCC"/>
              </a:solidFill>
            </a:endParaRPr>
          </a:p>
          <a:p>
            <a:pPr marL="0" lvl="0" indent="0" algn="l" rtl="0">
              <a:lnSpc>
                <a:spcPct val="95000"/>
              </a:lnSpc>
              <a:spcBef>
                <a:spcPts val="0"/>
              </a:spcBef>
              <a:spcAft>
                <a:spcPts val="1200"/>
              </a:spcAft>
              <a:buSzPts val="770"/>
              <a:buNone/>
            </a:pPr>
            <a:endParaRPr sz="1320" b="1"/>
          </a:p>
        </p:txBody>
      </p:sp>
      <p:sp>
        <p:nvSpPr>
          <p:cNvPr id="782" name="Google Shape;782;p46"/>
          <p:cNvSpPr/>
          <p:nvPr/>
        </p:nvSpPr>
        <p:spPr>
          <a:xfrm>
            <a:off x="3677285" y="1412240"/>
            <a:ext cx="4214495" cy="2008505"/>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83" name="Google Shape;783;p46"/>
          <p:cNvSpPr txBox="1"/>
          <p:nvPr/>
        </p:nvSpPr>
        <p:spPr>
          <a:xfrm>
            <a:off x="3707765" y="1374775"/>
            <a:ext cx="3633470" cy="20040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class MinHeap:</a:t>
            </a:r>
            <a:endParaRPr>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	</a:t>
            </a:r>
            <a:r>
              <a:rPr lang="zh-CN">
                <a:solidFill>
                  <a:srgbClr val="BBBEBF"/>
                </a:solidFill>
                <a:latin typeface="Lato" panose="020F0502020204030203"/>
                <a:ea typeface="Lato" panose="020F0502020204030203"/>
                <a:cs typeface="Lato" panose="020F0502020204030203"/>
                <a:sym typeface="Lato" panose="020F0502020204030203"/>
              </a:rPr>
              <a:t># …</a:t>
            </a:r>
            <a:endParaRPr>
              <a:solidFill>
                <a:srgbClr val="BBBEBF"/>
              </a:solidFill>
              <a:latin typeface="Lato" panose="020F0502020204030203"/>
              <a:ea typeface="Lato" panose="020F0502020204030203"/>
              <a:cs typeface="Lato" panose="020F0502020204030203"/>
              <a:sym typeface="Lato" panose="020F0502020204030203"/>
            </a:endParaRPr>
          </a:p>
          <a:p>
            <a:pPr marL="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def get_min(self):</a:t>
            </a: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if len(self.arr) &lt;= 1: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return</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None</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return self.arr[1]</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a:solidFill>
                  <a:schemeClr val="lt2"/>
                </a:solidFill>
                <a:latin typeface="Lato" panose="020F0502020204030203"/>
                <a:ea typeface="Lato" panose="020F0502020204030203"/>
                <a:cs typeface="Lato" panose="020F0502020204030203"/>
                <a:sym typeface="Lato" panose="020F0502020204030203"/>
              </a:rPr>
              <a:t> </a:t>
            </a:r>
            <a:r>
              <a:rPr lang="zh-CN">
                <a:latin typeface="Lato" panose="020F0502020204030203"/>
                <a:ea typeface="Lato" panose="020F0502020204030203"/>
                <a:cs typeface="Lato" panose="020F0502020204030203"/>
                <a:sym typeface="Lato" panose="020F0502020204030203"/>
              </a:rPr>
              <a:t> </a:t>
            </a:r>
            <a:endParaRPr>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787" name="Shape 787"/>
        <p:cNvGrpSpPr/>
        <p:nvPr/>
      </p:nvGrpSpPr>
      <p:grpSpPr>
        <a:xfrm>
          <a:off x="0" y="0"/>
          <a:ext cx="0" cy="0"/>
          <a:chOff x="0" y="0"/>
          <a:chExt cx="0" cy="0"/>
        </a:xfrm>
      </p:grpSpPr>
      <p:sp>
        <p:nvSpPr>
          <p:cNvPr id="788" name="Google Shape;788;p47"/>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Implement</a:t>
            </a:r>
            <a:endParaRPr sz="2940"/>
          </a:p>
        </p:txBody>
      </p:sp>
      <p:sp>
        <p:nvSpPr>
          <p:cNvPr id="789" name="Google Shape;789;p47"/>
          <p:cNvSpPr txBox="1"/>
          <p:nvPr>
            <p:ph type="body" idx="1"/>
          </p:nvPr>
        </p:nvSpPr>
        <p:spPr>
          <a:xfrm>
            <a:off x="101450" y="1268150"/>
            <a:ext cx="2906400" cy="32946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How to implement a heap sort? </a:t>
            </a:r>
            <a:endParaRPr sz="1445" b="1"/>
          </a:p>
          <a:p>
            <a:pPr marL="0" lvl="0" indent="0" algn="l" rtl="0">
              <a:lnSpc>
                <a:spcPct val="95000"/>
              </a:lnSpc>
              <a:spcBef>
                <a:spcPts val="1200"/>
              </a:spcBef>
              <a:spcAft>
                <a:spcPts val="0"/>
              </a:spcAft>
              <a:buSzPts val="770"/>
              <a:buNone/>
            </a:pPr>
            <a:r>
              <a:rPr lang="zh-CN" sz="1445"/>
              <a:t>The MinHeap class has five methods.</a:t>
            </a:r>
            <a:endParaRPr sz="1445"/>
          </a:p>
          <a:p>
            <a:pPr marL="0" lvl="0" indent="0" algn="l" rtl="0">
              <a:lnSpc>
                <a:spcPct val="100000"/>
              </a:lnSpc>
              <a:spcBef>
                <a:spcPts val="1200"/>
              </a:spcBef>
              <a:spcAft>
                <a:spcPts val="0"/>
              </a:spcAft>
              <a:buNone/>
            </a:pPr>
            <a:r>
              <a:rPr lang="zh-CN" sz="1700">
                <a:solidFill>
                  <a:srgbClr val="FF9900"/>
                </a:solidFill>
              </a:rPr>
              <a:t>*</a:t>
            </a:r>
            <a:r>
              <a:rPr lang="zh-CN" sz="1700">
                <a:solidFill>
                  <a:srgbClr val="BBBEBF"/>
                </a:solidFill>
              </a:rPr>
              <a:t>heapify(self, arr, n, i)</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CCCCCC"/>
                </a:solidFill>
              </a:rPr>
              <a:t>heapSort(self)</a:t>
            </a:r>
            <a:endParaRPr sz="1700">
              <a:solidFill>
                <a:srgbClr val="CCCCCC"/>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BBEBF"/>
                </a:solidFill>
              </a:rPr>
              <a:t>get_min(self)</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121314"/>
                </a:solidFill>
              </a:rPr>
              <a:t>insert(self, val)</a:t>
            </a:r>
            <a:endParaRPr sz="1700">
              <a:solidFill>
                <a:srgbClr val="121314"/>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CCCCCC"/>
                </a:solidFill>
              </a:rPr>
              <a:t>remove_min(self)</a:t>
            </a:r>
            <a:endParaRPr sz="1700">
              <a:solidFill>
                <a:srgbClr val="CCCCCC"/>
              </a:solidFill>
            </a:endParaRPr>
          </a:p>
          <a:p>
            <a:pPr marL="0" lvl="0" indent="0" algn="l" rtl="0">
              <a:lnSpc>
                <a:spcPct val="95000"/>
              </a:lnSpc>
              <a:spcBef>
                <a:spcPts val="0"/>
              </a:spcBef>
              <a:spcAft>
                <a:spcPts val="1200"/>
              </a:spcAft>
              <a:buSzPts val="770"/>
              <a:buNone/>
            </a:pPr>
            <a:endParaRPr sz="1320" b="1"/>
          </a:p>
        </p:txBody>
      </p:sp>
      <p:sp>
        <p:nvSpPr>
          <p:cNvPr id="790" name="Google Shape;790;p47"/>
          <p:cNvSpPr/>
          <p:nvPr/>
        </p:nvSpPr>
        <p:spPr>
          <a:xfrm>
            <a:off x="2756900" y="1161600"/>
            <a:ext cx="6269700" cy="3332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91" name="Google Shape;791;p47"/>
          <p:cNvSpPr txBox="1"/>
          <p:nvPr/>
        </p:nvSpPr>
        <p:spPr>
          <a:xfrm>
            <a:off x="2756900" y="1161600"/>
            <a:ext cx="6338100" cy="324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300">
                <a:latin typeface="Lato" panose="020F0502020204030203"/>
                <a:ea typeface="Lato" panose="020F0502020204030203"/>
                <a:cs typeface="Lato" panose="020F0502020204030203"/>
                <a:sym typeface="Lato" panose="020F0502020204030203"/>
              </a:rPr>
              <a:t>class MinHeap:</a:t>
            </a:r>
            <a:endParaRPr sz="1300">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latin typeface="Lato" panose="020F0502020204030203"/>
                <a:ea typeface="Lato" panose="020F0502020204030203"/>
                <a:cs typeface="Lato" panose="020F0502020204030203"/>
                <a:sym typeface="Lato" panose="020F0502020204030203"/>
              </a:rPr>
              <a:t>	</a:t>
            </a:r>
            <a:r>
              <a:rPr lang="zh-CN" sz="1300">
                <a:solidFill>
                  <a:srgbClr val="BBBEBF"/>
                </a:solidFill>
                <a:latin typeface="Lato" panose="020F0502020204030203"/>
                <a:ea typeface="Lato" panose="020F0502020204030203"/>
                <a:cs typeface="Lato" panose="020F0502020204030203"/>
                <a:sym typeface="Lato" panose="020F0502020204030203"/>
              </a:rPr>
              <a:t># …</a:t>
            </a:r>
            <a:endParaRPr sz="1300">
              <a:solidFill>
                <a:srgbClr val="BBBEBF"/>
              </a:solidFill>
              <a:latin typeface="Lato" panose="020F0502020204030203"/>
              <a:ea typeface="Lato" panose="020F0502020204030203"/>
              <a:cs typeface="Lato" panose="020F0502020204030203"/>
              <a:sym typeface="Lato" panose="020F0502020204030203"/>
            </a:endParaRPr>
          </a:p>
          <a:p>
            <a:pPr marL="0" lvl="0" indent="45720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def insert(self, val):</a:t>
            </a:r>
            <a:endParaRPr lang="zh-CN" sz="1300">
              <a:solidFill>
                <a:schemeClr val="dk2"/>
              </a:solidFill>
              <a:latin typeface="Lato" panose="020F0502020204030203"/>
              <a:ea typeface="Lato" panose="020F0502020204030203"/>
              <a:cs typeface="Lato" panose="020F0502020204030203"/>
              <a:sym typeface="Lato" panose="020F0502020204030203"/>
            </a:endParaRPr>
          </a:p>
          <a:p>
            <a:pPr marL="457200" lvl="1" indent="457200" algn="l" rtl="0">
              <a:spcBef>
                <a:spcPts val="0"/>
              </a:spcBef>
              <a:spcAft>
                <a:spcPts val="0"/>
              </a:spcAft>
              <a:buNone/>
            </a:pPr>
            <a:r>
              <a:rPr lang="en-US" altLang="zh-CN" sz="1300">
                <a:solidFill>
                  <a:schemeClr val="tx1"/>
                </a:solidFill>
                <a:latin typeface="Lato" panose="020F0502020204030203"/>
                <a:ea typeface="Lato" panose="020F0502020204030203"/>
                <a:cs typeface="Lato" panose="020F0502020204030203"/>
                <a:sym typeface="Lato" panose="020F0502020204030203"/>
              </a:rPr>
              <a:t>"""Insert value and sift-up to maintain heap property"""</a:t>
            </a:r>
            <a:endParaRPr lang="en-US" altLang="zh-CN" sz="1300">
              <a:solidFill>
                <a:schemeClr val="tx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self.arr.append(val)  </a:t>
            </a:r>
            <a:endParaRPr sz="1300">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sz="1300">
                <a:solidFill>
                  <a:schemeClr val="dk1"/>
                </a:solidFill>
                <a:latin typeface="Lato" panose="020F0502020204030203"/>
                <a:ea typeface="Lato" panose="020F0502020204030203"/>
                <a:cs typeface="Lato" panose="020F0502020204030203"/>
                <a:sym typeface="Lato" panose="020F0502020204030203"/>
              </a:rPr>
              <a:t># append the new element to the very end of the array</a:t>
            </a:r>
            <a:endParaRPr sz="1300">
              <a:solidFill>
                <a:schemeClr val="dk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curr = len(self.arr) - 1  </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a:t>
            </a:r>
            <a:r>
              <a:rPr lang="zh-CN" sz="1300">
                <a:solidFill>
                  <a:schemeClr val="dk1"/>
                </a:solidFill>
                <a:latin typeface="Lato" panose="020F0502020204030203"/>
                <a:ea typeface="Lato" panose="020F0502020204030203"/>
                <a:cs typeface="Lato" panose="020F0502020204030203"/>
                <a:sym typeface="Lato" panose="020F0502020204030203"/>
              </a:rPr>
              <a:t> 	</a:t>
            </a:r>
            <a:r>
              <a:rPr lang="zh-CN" sz="1300">
                <a:solidFill>
                  <a:schemeClr val="dk2"/>
                </a:solidFill>
                <a:latin typeface="Lato" panose="020F0502020204030203"/>
                <a:ea typeface="Lato" panose="020F0502020204030203"/>
                <a:cs typeface="Lato" panose="020F0502020204030203"/>
                <a:sym typeface="Lato" panose="020F0502020204030203"/>
              </a:rPr>
              <a:t>while curr &gt; 1:</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a:t>
            </a:r>
            <a:r>
              <a:rPr lang="en-US" altLang="zh-CN" sz="1300">
                <a:solidFill>
                  <a:schemeClr val="dk2"/>
                </a:solidFill>
                <a:latin typeface="Lato" panose="020F0502020204030203"/>
                <a:ea typeface="Lato" panose="020F0502020204030203"/>
                <a:cs typeface="Lato" panose="020F0502020204030203"/>
                <a:sym typeface="Lato" panose="020F0502020204030203"/>
              </a:rPr>
              <a:t>         </a:t>
            </a:r>
            <a:r>
              <a:rPr lang="zh-CN" sz="1300">
                <a:solidFill>
                  <a:schemeClr val="dk2"/>
                </a:solidFill>
                <a:latin typeface="Lato" panose="020F0502020204030203"/>
                <a:ea typeface="Lato" panose="020F0502020204030203"/>
                <a:cs typeface="Lato" panose="020F0502020204030203"/>
                <a:sym typeface="Lato" panose="020F0502020204030203"/>
              </a:rPr>
              <a:t>parent = curr // 2    </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a:t>
            </a:r>
            <a:r>
              <a:rPr lang="en-US" altLang="zh-CN" sz="1300">
                <a:solidFill>
                  <a:schemeClr val="dk2"/>
                </a:solidFill>
                <a:latin typeface="Lato" panose="020F0502020204030203"/>
                <a:ea typeface="Lato" panose="020F0502020204030203"/>
                <a:cs typeface="Lato" panose="020F0502020204030203"/>
                <a:sym typeface="Lato" panose="020F0502020204030203"/>
              </a:rPr>
              <a:t>                   </a:t>
            </a:r>
            <a:r>
              <a:rPr lang="zh-CN" sz="1300">
                <a:solidFill>
                  <a:schemeClr val="dk2"/>
                </a:solidFill>
                <a:latin typeface="Lato" panose="020F0502020204030203"/>
                <a:ea typeface="Lato" panose="020F0502020204030203"/>
                <a:cs typeface="Lato" panose="020F0502020204030203"/>
                <a:sym typeface="Lato" panose="020F0502020204030203"/>
              </a:rPr>
              <a:t>if </a:t>
            </a:r>
            <a:r>
              <a:rPr lang="en-US" altLang="zh-CN" sz="1300">
                <a:solidFill>
                  <a:schemeClr val="dk2"/>
                </a:solidFill>
                <a:latin typeface="Lato" panose="020F0502020204030203"/>
                <a:ea typeface="Lato" panose="020F0502020204030203"/>
                <a:cs typeface="Lato" panose="020F0502020204030203"/>
                <a:sym typeface="Lato" panose="020F0502020204030203"/>
              </a:rPr>
              <a:t>  </a:t>
            </a:r>
            <a:r>
              <a:rPr lang="zh-CN" sz="1300">
                <a:solidFill>
                  <a:schemeClr val="dk2"/>
                </a:solidFill>
                <a:latin typeface="Lato" panose="020F0502020204030203"/>
                <a:ea typeface="Lato" panose="020F0502020204030203"/>
                <a:cs typeface="Lato" panose="020F0502020204030203"/>
                <a:sym typeface="Lato" panose="020F0502020204030203"/>
              </a:rPr>
              <a:t>self.arr[curr] &lt; self.arr[parent]:</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self.arr[curr], self.arr[parent] = self.arr[parent], self.arr[curr]</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curr = parent</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a:t>
            </a:r>
            <a:r>
              <a:rPr lang="en-US" altLang="zh-CN" sz="1300">
                <a:solidFill>
                  <a:schemeClr val="dk2"/>
                </a:solidFill>
                <a:latin typeface="Lato" panose="020F0502020204030203"/>
                <a:ea typeface="Lato" panose="020F0502020204030203"/>
                <a:cs typeface="Lato" panose="020F0502020204030203"/>
                <a:sym typeface="Lato" panose="020F0502020204030203"/>
              </a:rPr>
              <a:t>          </a:t>
            </a:r>
            <a:r>
              <a:rPr lang="zh-CN" sz="1300">
                <a:solidFill>
                  <a:schemeClr val="dk2"/>
                </a:solidFill>
                <a:latin typeface="Lato" panose="020F0502020204030203"/>
                <a:ea typeface="Lato" panose="020F0502020204030203"/>
                <a:cs typeface="Lato" panose="020F0502020204030203"/>
                <a:sym typeface="Lato" panose="020F0502020204030203"/>
              </a:rPr>
              <a:t>else:</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sz="1300">
                <a:solidFill>
                  <a:schemeClr val="dk2"/>
                </a:solidFill>
                <a:latin typeface="Lato" panose="020F0502020204030203"/>
                <a:ea typeface="Lato" panose="020F0502020204030203"/>
                <a:cs typeface="Lato" panose="020F0502020204030203"/>
                <a:sym typeface="Lato" panose="020F0502020204030203"/>
              </a:rPr>
              <a:t>                		break</a:t>
            </a:r>
            <a:endParaRPr sz="1300">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chemeClr val="dk2"/>
              </a:solidFill>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r>
              <a:rPr lang="zh-CN" sz="1300">
                <a:solidFill>
                  <a:schemeClr val="lt2"/>
                </a:solidFill>
                <a:latin typeface="Lato" panose="020F0502020204030203"/>
                <a:ea typeface="Lato" panose="020F0502020204030203"/>
                <a:cs typeface="Lato" panose="020F0502020204030203"/>
                <a:sym typeface="Lato" panose="020F0502020204030203"/>
              </a:rPr>
              <a:t> </a:t>
            </a:r>
            <a:r>
              <a:rPr lang="zh-CN" sz="1300">
                <a:latin typeface="Lato" panose="020F0502020204030203"/>
                <a:ea typeface="Lato" panose="020F0502020204030203"/>
                <a:cs typeface="Lato" panose="020F0502020204030203"/>
                <a:sym typeface="Lato" panose="020F0502020204030203"/>
              </a:rPr>
              <a:t> </a:t>
            </a:r>
            <a:endParaRPr sz="1300">
              <a:latin typeface="Lato" panose="020F0502020204030203"/>
              <a:ea typeface="Lato" panose="020F0502020204030203"/>
              <a:cs typeface="Lato" panose="020F0502020204030203"/>
              <a:sym typeface="Lato" panose="020F0502020204030203"/>
            </a:endParaRPr>
          </a:p>
          <a:p>
            <a:pPr marL="4572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sz="13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795" name="Shape 795"/>
        <p:cNvGrpSpPr/>
        <p:nvPr/>
      </p:nvGrpSpPr>
      <p:grpSpPr>
        <a:xfrm>
          <a:off x="0" y="0"/>
          <a:ext cx="0" cy="0"/>
          <a:chOff x="0" y="0"/>
          <a:chExt cx="0" cy="0"/>
        </a:xfrm>
      </p:grpSpPr>
      <p:sp>
        <p:nvSpPr>
          <p:cNvPr id="796" name="Google Shape;796;p48"/>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Implement</a:t>
            </a:r>
            <a:endParaRPr sz="2940"/>
          </a:p>
        </p:txBody>
      </p:sp>
      <p:sp>
        <p:nvSpPr>
          <p:cNvPr id="797" name="Google Shape;797;p48"/>
          <p:cNvSpPr txBox="1"/>
          <p:nvPr>
            <p:ph type="body" idx="1"/>
          </p:nvPr>
        </p:nvSpPr>
        <p:spPr>
          <a:xfrm>
            <a:off x="101450" y="1268150"/>
            <a:ext cx="2906400" cy="32946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How to implement a heap sort? </a:t>
            </a:r>
            <a:endParaRPr sz="1445" b="1"/>
          </a:p>
          <a:p>
            <a:pPr marL="0" lvl="0" indent="0" algn="l" rtl="0">
              <a:lnSpc>
                <a:spcPct val="95000"/>
              </a:lnSpc>
              <a:spcBef>
                <a:spcPts val="1200"/>
              </a:spcBef>
              <a:spcAft>
                <a:spcPts val="0"/>
              </a:spcAft>
              <a:buSzPts val="770"/>
              <a:buNone/>
            </a:pPr>
            <a:r>
              <a:rPr lang="zh-CN" sz="1445"/>
              <a:t>The MinHeap class has five methods.</a:t>
            </a:r>
            <a:endParaRPr sz="1445"/>
          </a:p>
          <a:p>
            <a:pPr marL="0" lvl="0" indent="0" algn="l" rtl="0">
              <a:lnSpc>
                <a:spcPct val="100000"/>
              </a:lnSpc>
              <a:spcBef>
                <a:spcPts val="1200"/>
              </a:spcBef>
              <a:spcAft>
                <a:spcPts val="0"/>
              </a:spcAft>
              <a:buNone/>
            </a:pPr>
            <a:r>
              <a:rPr lang="zh-CN" sz="1700">
                <a:solidFill>
                  <a:srgbClr val="FF9900"/>
                </a:solidFill>
              </a:rPr>
              <a:t>*</a:t>
            </a:r>
            <a:r>
              <a:rPr lang="zh-CN" sz="1700">
                <a:solidFill>
                  <a:srgbClr val="BBBEBF"/>
                </a:solidFill>
              </a:rPr>
              <a:t>heapify(self, arr, n, i)</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CCCCCC"/>
                </a:solidFill>
              </a:rPr>
              <a:t>heapSort(self)</a:t>
            </a:r>
            <a:endParaRPr sz="1700">
              <a:solidFill>
                <a:srgbClr val="CCCCCC"/>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BBEBF"/>
                </a:solidFill>
              </a:rPr>
              <a:t>get_min(self)</a:t>
            </a:r>
            <a:endParaRPr sz="1700">
              <a:solidFill>
                <a:srgbClr val="BBBEBF"/>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rgbClr val="B7B7B7"/>
                </a:solidFill>
              </a:rPr>
              <a:t>insert(self, val)</a:t>
            </a:r>
            <a:endParaRPr sz="1700">
              <a:solidFill>
                <a:srgbClr val="B7B7B7"/>
              </a:solidFill>
            </a:endParaRPr>
          </a:p>
          <a:p>
            <a:pPr marL="0" lvl="0" indent="0" algn="l" rtl="0">
              <a:lnSpc>
                <a:spcPct val="100000"/>
              </a:lnSpc>
              <a:spcBef>
                <a:spcPts val="0"/>
              </a:spcBef>
              <a:spcAft>
                <a:spcPts val="0"/>
              </a:spcAft>
              <a:buNone/>
            </a:pPr>
            <a:r>
              <a:rPr lang="zh-CN" sz="1700">
                <a:solidFill>
                  <a:srgbClr val="FF9900"/>
                </a:solidFill>
              </a:rPr>
              <a:t>*</a:t>
            </a:r>
            <a:r>
              <a:rPr lang="zh-CN" sz="1700">
                <a:solidFill>
                  <a:schemeClr val="dk2"/>
                </a:solidFill>
              </a:rPr>
              <a:t>remove_min(self)</a:t>
            </a:r>
            <a:endParaRPr sz="1700">
              <a:solidFill>
                <a:schemeClr val="dk2"/>
              </a:solidFill>
            </a:endParaRPr>
          </a:p>
          <a:p>
            <a:pPr marL="0" lvl="0" indent="0" algn="l" rtl="0">
              <a:lnSpc>
                <a:spcPct val="95000"/>
              </a:lnSpc>
              <a:spcBef>
                <a:spcPts val="0"/>
              </a:spcBef>
              <a:spcAft>
                <a:spcPts val="1200"/>
              </a:spcAft>
              <a:buSzPts val="770"/>
              <a:buNone/>
            </a:pPr>
            <a:endParaRPr sz="1320" b="1"/>
          </a:p>
        </p:txBody>
      </p:sp>
      <p:sp>
        <p:nvSpPr>
          <p:cNvPr id="798" name="Google Shape;798;p48"/>
          <p:cNvSpPr/>
          <p:nvPr/>
        </p:nvSpPr>
        <p:spPr>
          <a:xfrm>
            <a:off x="2756900" y="1123425"/>
            <a:ext cx="6239100" cy="3941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14400" lvl="0" indent="457200" algn="l" rtl="0">
              <a:spcBef>
                <a:spcPts val="0"/>
              </a:spcBef>
              <a:spcAft>
                <a:spcPts val="0"/>
              </a:spcAft>
              <a:buNone/>
            </a:pPr>
            <a:endParaRPr>
              <a:latin typeface="Lato" panose="020F0502020204030203"/>
              <a:ea typeface="Lato" panose="020F0502020204030203"/>
              <a:cs typeface="Lato" panose="020F0502020204030203"/>
              <a:sym typeface="Lato" panose="020F0502020204030203"/>
            </a:endParaRPr>
          </a:p>
        </p:txBody>
      </p:sp>
      <p:sp>
        <p:nvSpPr>
          <p:cNvPr id="799" name="Google Shape;799;p48"/>
          <p:cNvSpPr txBox="1"/>
          <p:nvPr/>
        </p:nvSpPr>
        <p:spPr>
          <a:xfrm>
            <a:off x="2756900" y="1123425"/>
            <a:ext cx="6330300" cy="389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class MinHeap:</a:t>
            </a:r>
            <a:endParaRPr>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latin typeface="Lato" panose="020F0502020204030203"/>
                <a:ea typeface="Lato" panose="020F0502020204030203"/>
                <a:cs typeface="Lato" panose="020F0502020204030203"/>
                <a:sym typeface="Lato" panose="020F0502020204030203"/>
              </a:rPr>
              <a:t>	</a:t>
            </a:r>
            <a:r>
              <a:rPr lang="zh-CN">
                <a:solidFill>
                  <a:srgbClr val="BBBEBF"/>
                </a:solidFill>
                <a:latin typeface="Lato" panose="020F0502020204030203"/>
                <a:ea typeface="Lato" panose="020F0502020204030203"/>
                <a:cs typeface="Lato" panose="020F0502020204030203"/>
                <a:sym typeface="Lato" panose="020F0502020204030203"/>
              </a:rPr>
              <a:t># …</a:t>
            </a:r>
            <a:endParaRPr>
              <a:solidFill>
                <a:srgbClr val="BBBEBF"/>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def remove_min(self):     </a:t>
            </a:r>
            <a:r>
              <a:rPr lang="en-US" altLang="zh-CN">
                <a:solidFill>
                  <a:schemeClr val="dk2"/>
                </a:solidFill>
                <a:latin typeface="Lato" panose="020F0502020204030203"/>
                <a:ea typeface="Lato" panose="020F0502020204030203"/>
                <a:cs typeface="Lato" panose="020F0502020204030203"/>
                <a:sym typeface="Lato" panose="020F0502020204030203"/>
              </a:rPr>
              <a:t> </a:t>
            </a:r>
            <a:endParaRPr lang="en-US" altLang="zh-CN">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if len(self.arr) &lt;= 1:  </a:t>
            </a:r>
            <a:r>
              <a:rPr lang="zh-CN">
                <a:solidFill>
                  <a:schemeClr val="dk1"/>
                </a:solidFill>
                <a:latin typeface="Lato" panose="020F0502020204030203"/>
                <a:ea typeface="Lato" panose="020F0502020204030203"/>
                <a:cs typeface="Lato" panose="020F0502020204030203"/>
                <a:sym typeface="Lato" panose="020F0502020204030203"/>
              </a:rPr>
              <a:t># Cannot delete when the heap is empty</a:t>
            </a:r>
            <a:endParaRPr>
              <a:solidFill>
                <a:schemeClr val="dk1"/>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print("The heap is empty and deletion failed")</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return None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if len(self.arr) == 2: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return self.arr.pop()</a:t>
            </a:r>
            <a:endParaRPr lang="zh-CN">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lang="zh-CN">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1"/>
                </a:solidFill>
                <a:latin typeface="Lato" panose="020F0502020204030203"/>
                <a:ea typeface="Lato" panose="020F0502020204030203"/>
                <a:cs typeface="Lato" panose="020F0502020204030203"/>
                <a:sym typeface="Lato" panose="020F0502020204030203"/>
              </a:rPr>
              <a:t># Save the minimum value at the top of the heap to return</a:t>
            </a:r>
            <a:r>
              <a:rPr lang="zh-CN">
                <a:solidFill>
                  <a:schemeClr val="dk2"/>
                </a:solidFill>
                <a:latin typeface="Lato" panose="020F0502020204030203"/>
                <a:ea typeface="Lato" panose="020F0502020204030203"/>
                <a:cs typeface="Lato" panose="020F0502020204030203"/>
                <a:sym typeface="Lato" panose="020F0502020204030203"/>
              </a:rPr>
              <a:t> </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min_val = self.arr[1]             </a:t>
            </a:r>
            <a:r>
              <a:rPr lang="en-US" altLang="zh-CN">
                <a:solidFill>
                  <a:schemeClr val="dk2"/>
                </a:solidFill>
                <a:latin typeface="Lato" panose="020F0502020204030203"/>
                <a:ea typeface="Lato" panose="020F0502020204030203"/>
                <a:cs typeface="Lato" panose="020F0502020204030203"/>
                <a:sym typeface="Lato" panose="020F0502020204030203"/>
              </a:rPr>
              <a:t>         </a:t>
            </a:r>
            <a:endParaRPr lang="en-US" altLang="zh-CN">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self.arr[1] = self.arr.pop()</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self.heapify(self.arr, len(self.arr) - 1, 1)</a:t>
            </a:r>
            <a:endParaRPr lang="zh-CN">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chemeClr val="dk2"/>
                </a:solidFill>
                <a:latin typeface="Lato" panose="020F0502020204030203"/>
                <a:ea typeface="Lato" panose="020F0502020204030203"/>
                <a:cs typeface="Lato" panose="020F0502020204030203"/>
                <a:sym typeface="Lato" panose="020F0502020204030203"/>
              </a:rPr>
              <a:t>        </a:t>
            </a:r>
            <a:r>
              <a:rPr lang="en-US" altLang="zh-CN">
                <a:solidFill>
                  <a:schemeClr val="dk2"/>
                </a:solidFill>
                <a:latin typeface="Lato" panose="020F0502020204030203"/>
                <a:ea typeface="Lato" panose="020F0502020204030203"/>
                <a:cs typeface="Lato" panose="020F0502020204030203"/>
                <a:sym typeface="Lato" panose="020F0502020204030203"/>
              </a:rPr>
              <a:t>         </a:t>
            </a:r>
            <a:r>
              <a:rPr lang="zh-CN">
                <a:solidFill>
                  <a:schemeClr val="dk2"/>
                </a:solidFill>
                <a:latin typeface="Lato" panose="020F0502020204030203"/>
                <a:ea typeface="Lato" panose="020F0502020204030203"/>
                <a:cs typeface="Lato" panose="020F0502020204030203"/>
                <a:sym typeface="Lato" panose="020F0502020204030203"/>
              </a:rPr>
              <a:t>return min_val</a:t>
            </a: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endParaRPr>
              <a:solidFill>
                <a:schemeClr val="dk2"/>
              </a:solidFill>
              <a:latin typeface="Lato" panose="020F0502020204030203"/>
              <a:ea typeface="Lato" panose="020F0502020204030203"/>
              <a:cs typeface="Lato" panose="020F0502020204030203"/>
              <a:sym typeface="Lato" panose="020F0502020204030203"/>
            </a:endParaRPr>
          </a:p>
          <a:p>
            <a:pPr marL="0" lvl="0" indent="0" algn="l" rtl="0">
              <a:spcBef>
                <a:spcPts val="0"/>
              </a:spcBef>
              <a:spcAft>
                <a:spcPts val="0"/>
              </a:spcAft>
              <a:buNone/>
            </a:pPr>
            <a:r>
              <a:rPr lang="zh-CN">
                <a:solidFill>
                  <a:srgbClr val="BBBEBF"/>
                </a:solidFill>
                <a:latin typeface="Lato" panose="020F0502020204030203"/>
                <a:ea typeface="Lato" panose="020F0502020204030203"/>
                <a:cs typeface="Lato" panose="020F0502020204030203"/>
                <a:sym typeface="Lato" panose="020F0502020204030203"/>
              </a:rPr>
              <a:t>	</a:t>
            </a:r>
            <a:endParaRPr sz="1300">
              <a:solidFill>
                <a:schemeClr val="accent1"/>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733" name="Shape 733"/>
        <p:cNvGrpSpPr/>
        <p:nvPr/>
      </p:nvGrpSpPr>
      <p:grpSpPr>
        <a:xfrm>
          <a:off x="0" y="0"/>
          <a:ext cx="0" cy="0"/>
          <a:chOff x="0" y="0"/>
          <a:chExt cx="0" cy="0"/>
        </a:xfrm>
      </p:grpSpPr>
      <p:sp>
        <p:nvSpPr>
          <p:cNvPr id="734" name="Google Shape;734;p42"/>
          <p:cNvSpPr txBox="1"/>
          <p:nvPr>
            <p:ph type="title"/>
          </p:nvPr>
        </p:nvSpPr>
        <p:spPr>
          <a:xfrm>
            <a:off x="1052550" y="588225"/>
            <a:ext cx="477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CN" sz="2940"/>
              <a:t>                          </a:t>
            </a:r>
            <a:r>
              <a:rPr lang="zh-CN" sz="2940"/>
              <a:t>Implement</a:t>
            </a:r>
            <a:endParaRPr sz="2940"/>
          </a:p>
        </p:txBody>
      </p:sp>
      <p:sp>
        <p:nvSpPr>
          <p:cNvPr id="735" name="Google Shape;735;p42"/>
          <p:cNvSpPr txBox="1"/>
          <p:nvPr>
            <p:ph type="body" idx="1"/>
          </p:nvPr>
        </p:nvSpPr>
        <p:spPr>
          <a:xfrm>
            <a:off x="906145" y="1275715"/>
            <a:ext cx="2235835" cy="40894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770"/>
              <a:buNone/>
            </a:pPr>
            <a:r>
              <a:rPr lang="zh-CN" sz="1445" b="1"/>
              <a:t> </a:t>
            </a:r>
            <a:r>
              <a:rPr lang="en-US" sz="1320" b="1"/>
              <a:t>Give some examples</a:t>
            </a:r>
            <a:endParaRPr lang="en-US" sz="1320" b="1"/>
          </a:p>
        </p:txBody>
      </p:sp>
      <p:sp>
        <p:nvSpPr>
          <p:cNvPr id="9" name="文本框 8"/>
          <p:cNvSpPr txBox="1"/>
          <p:nvPr/>
        </p:nvSpPr>
        <p:spPr>
          <a:xfrm>
            <a:off x="425450" y="1684655"/>
            <a:ext cx="4327525" cy="1383665"/>
          </a:xfrm>
          <a:prstGeom prst="rect">
            <a:avLst/>
          </a:prstGeom>
          <a:noFill/>
        </p:spPr>
        <p:txBody>
          <a:bodyPr wrap="square" rtlCol="0">
            <a:spAutoFit/>
          </a:bodyPr>
          <a:p>
            <a:r>
              <a:rPr lang="en-US" altLang="zh-CN"/>
              <a:t>if __name__ == "__main__":</a:t>
            </a:r>
            <a:endParaRPr lang="en-US" altLang="zh-CN"/>
          </a:p>
          <a:p>
            <a:r>
              <a:rPr lang="en-US" altLang="zh-CN"/>
              <a:t>    arr = [4, 10, 3, 5, 1, 2]</a:t>
            </a:r>
            <a:endParaRPr lang="en-US" altLang="zh-CN"/>
          </a:p>
          <a:p>
            <a:r>
              <a:rPr lang="en-US" altLang="zh-CN"/>
              <a:t>    my_heap = MinHeap(arr)</a:t>
            </a:r>
            <a:endParaRPr lang="en-US" altLang="zh-CN"/>
          </a:p>
          <a:p>
            <a:r>
              <a:rPr lang="en-US" altLang="zh-CN"/>
              <a:t>    print(f"Output the initialized object: {my_heap.arr}")         </a:t>
            </a:r>
            <a:endParaRPr lang="en-US" altLang="zh-CN"/>
          </a:p>
          <a:p>
            <a:r>
              <a:rPr lang="en-US" altLang="zh-CN"/>
              <a:t>    my_heap.heapSort()</a:t>
            </a:r>
            <a:endParaRPr lang="en-US" altLang="zh-CN"/>
          </a:p>
          <a:p>
            <a:r>
              <a:rPr lang="en-US" altLang="zh-CN"/>
              <a:t>    print(f"Sorted output: {my_heap.heapSort()}")                </a:t>
            </a:r>
            <a:endParaRPr lang="en-US" altLang="zh-CN"/>
          </a:p>
        </p:txBody>
      </p:sp>
      <p:sp>
        <p:nvSpPr>
          <p:cNvPr id="2" name="矩形 1"/>
          <p:cNvSpPr/>
          <p:nvPr/>
        </p:nvSpPr>
        <p:spPr>
          <a:xfrm>
            <a:off x="425450" y="1657350"/>
            <a:ext cx="4286250" cy="1370330"/>
          </a:xfrm>
          <a:prstGeom prst="rect">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425450" y="3027680"/>
            <a:ext cx="4290060" cy="1002665"/>
          </a:xfrm>
          <a:prstGeom prst="rect">
            <a:avLst/>
          </a:prstGeom>
          <a:noFill/>
        </p:spPr>
        <p:txBody>
          <a:bodyPr wrap="square" rtlCol="0">
            <a:noAutofit/>
          </a:bodyPr>
          <a:p>
            <a:r>
              <a:rPr lang="en-US" altLang="zh-CN"/>
              <a:t>Output:</a:t>
            </a:r>
            <a:endParaRPr lang="en-US" altLang="zh-CN"/>
          </a:p>
          <a:p>
            <a:r>
              <a:rPr lang="en-US" altLang="zh-CN">
                <a:solidFill>
                  <a:srgbClr val="FFC000"/>
                </a:solidFill>
              </a:rPr>
              <a:t>Output the initialized object: [None, 1, 4, 2, 5, 10, 3]</a:t>
            </a:r>
            <a:endParaRPr lang="en-US" altLang="zh-CN">
              <a:solidFill>
                <a:srgbClr val="FFC000"/>
              </a:solidFill>
            </a:endParaRPr>
          </a:p>
          <a:p>
            <a:r>
              <a:rPr lang="en-US" altLang="zh-CN">
                <a:solidFill>
                  <a:srgbClr val="FFC000"/>
                </a:solidFill>
              </a:rPr>
              <a:t>Sorted output [10, 5, 4, 3, 2, 1]</a:t>
            </a:r>
            <a:endParaRPr lang="en-US" altLang="zh-CN">
              <a:solidFill>
                <a:srgbClr val="FFC000"/>
              </a:solidFill>
            </a:endParaRPr>
          </a:p>
        </p:txBody>
      </p:sp>
      <p:sp>
        <p:nvSpPr>
          <p:cNvPr id="4" name="矩形 3"/>
          <p:cNvSpPr/>
          <p:nvPr/>
        </p:nvSpPr>
        <p:spPr>
          <a:xfrm>
            <a:off x="425450" y="3027680"/>
            <a:ext cx="4289425" cy="100203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4752975" y="1657350"/>
            <a:ext cx="4328795" cy="1370965"/>
          </a:xfrm>
          <a:prstGeom prst="rect">
            <a:avLst/>
          </a:prstGeom>
          <a:noFill/>
        </p:spPr>
        <p:txBody>
          <a:bodyPr wrap="square" rtlCol="0">
            <a:noAutofit/>
          </a:bodyPr>
          <a:p>
            <a:r>
              <a:rPr lang="en-US" altLang="zh-CN"/>
              <a:t>    my_heap.get_min()</a:t>
            </a:r>
            <a:endParaRPr lang="en-US" altLang="zh-CN"/>
          </a:p>
          <a:p>
            <a:r>
              <a:rPr lang="en-US" altLang="zh-CN"/>
              <a:t>    print(f"The minimum value:{my_heap.get_min()}") </a:t>
            </a:r>
            <a:endParaRPr lang="en-US" altLang="zh-CN"/>
          </a:p>
          <a:p>
            <a:r>
              <a:rPr lang="en-US" altLang="zh-CN"/>
              <a:t>    my_heap.insert(15)                                </a:t>
            </a:r>
            <a:endParaRPr lang="en-US" altLang="zh-CN"/>
          </a:p>
          <a:p>
            <a:r>
              <a:rPr lang="en-US" altLang="zh-CN"/>
              <a:t>    print(f"Output the object: {my_heap.arr}")</a:t>
            </a:r>
            <a:endParaRPr lang="en-US" altLang="zh-CN"/>
          </a:p>
          <a:p>
            <a:r>
              <a:rPr lang="en-US" altLang="zh-CN"/>
              <a:t>    print(f"The object after deleting the minimum value: {my_heap.remove_min()}")                          </a:t>
            </a:r>
            <a:endParaRPr lang="zh-CN" altLang="en-US"/>
          </a:p>
        </p:txBody>
      </p:sp>
      <p:sp>
        <p:nvSpPr>
          <p:cNvPr id="6" name="矩形 5"/>
          <p:cNvSpPr/>
          <p:nvPr/>
        </p:nvSpPr>
        <p:spPr>
          <a:xfrm>
            <a:off x="4746625" y="1657985"/>
            <a:ext cx="4335780" cy="136779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4760595" y="3044190"/>
            <a:ext cx="4279900" cy="953135"/>
          </a:xfrm>
          <a:prstGeom prst="rect">
            <a:avLst/>
          </a:prstGeom>
          <a:noFill/>
        </p:spPr>
        <p:txBody>
          <a:bodyPr wrap="square" rtlCol="0">
            <a:spAutoFit/>
          </a:bodyPr>
          <a:p>
            <a:r>
              <a:rPr lang="en-US" altLang="zh-CN"/>
              <a:t>Output:</a:t>
            </a:r>
            <a:endParaRPr lang="en-US" altLang="zh-CN"/>
          </a:p>
          <a:p>
            <a:r>
              <a:rPr lang="en-US" altLang="zh-CN">
                <a:solidFill>
                  <a:srgbClr val="FFC000"/>
                </a:solidFill>
              </a:rPr>
              <a:t>The minimum value: 1</a:t>
            </a:r>
            <a:endParaRPr lang="en-US" altLang="zh-CN">
              <a:solidFill>
                <a:srgbClr val="FFC000"/>
              </a:solidFill>
            </a:endParaRPr>
          </a:p>
          <a:p>
            <a:r>
              <a:rPr lang="en-US" altLang="zh-CN">
                <a:solidFill>
                  <a:srgbClr val="FFC000"/>
                </a:solidFill>
              </a:rPr>
              <a:t>Output the object: [None, 1, 4, 2, 5, 10, 3, 15]</a:t>
            </a:r>
            <a:endParaRPr lang="en-US" altLang="zh-CN">
              <a:solidFill>
                <a:srgbClr val="FFC000"/>
              </a:solidFill>
            </a:endParaRPr>
          </a:p>
          <a:p>
            <a:r>
              <a:rPr lang="en-US" altLang="zh-CN">
                <a:solidFill>
                  <a:srgbClr val="FFC000"/>
                </a:solidFill>
              </a:rPr>
              <a:t>The object after deleting the minimum value: 1</a:t>
            </a:r>
            <a:endParaRPr lang="en-US" altLang="zh-CN">
              <a:solidFill>
                <a:srgbClr val="FFC000"/>
              </a:solidFill>
            </a:endParaRPr>
          </a:p>
        </p:txBody>
      </p:sp>
      <p:sp>
        <p:nvSpPr>
          <p:cNvPr id="8" name="矩形 7"/>
          <p:cNvSpPr/>
          <p:nvPr/>
        </p:nvSpPr>
        <p:spPr>
          <a:xfrm>
            <a:off x="4752975" y="3048635"/>
            <a:ext cx="4324985" cy="98171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14607</Words>
  <Application>WPS 演示</Application>
  <PresentationFormat/>
  <Paragraphs>1380</Paragraphs>
  <Slides>39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39</vt:i4>
      </vt:variant>
    </vt:vector>
  </HeadingPairs>
  <TitlesOfParts>
    <vt:vector size="49" baseType="lpstr">
      <vt:lpstr>Arial</vt:lpstr>
      <vt:lpstr>宋体</vt:lpstr>
      <vt:lpstr>Wingdings</vt:lpstr>
      <vt:lpstr>Arial</vt:lpstr>
      <vt:lpstr>Raleway</vt:lpstr>
      <vt:lpstr>Lato</vt:lpstr>
      <vt:lpstr>微软雅黑</vt:lpstr>
      <vt:lpstr>Arial Unicode MS</vt:lpstr>
      <vt:lpstr>Wingdings</vt:lpstr>
      <vt:lpstr>Streamline</vt:lpstr>
      <vt:lpstr>Heap and Heap algorithms</vt:lpstr>
      <vt:lpstr>Catalog:</vt:lpstr>
      <vt:lpstr>What is Heap?</vt:lpstr>
      <vt:lpstr>Abstract Data Type: Priority Queue </vt:lpstr>
      <vt:lpstr>What is Heap structure?</vt:lpstr>
      <vt:lpstr>The value of any parent node is ≥ the values of its left and right child nodes. The root node is the maximum value of the entire heap. </vt:lpstr>
      <vt:lpstr>Min Heap</vt:lpstr>
      <vt:lpstr> Heap</vt:lpstr>
      <vt:lpstr> Heap</vt:lpstr>
      <vt:lpstr>Common Heap applications</vt:lpstr>
      <vt:lpstr>Common Heap applications</vt:lpstr>
      <vt:lpstr>Heap Sort</vt:lpstr>
      <vt:lpstr>Steps of Heap Sort</vt:lpstr>
      <vt:lpstr>Bulid heap</vt:lpstr>
      <vt:lpstr>Build heap</vt:lpstr>
      <vt:lpstr>Build heap</vt:lpstr>
      <vt:lpstr>Build heap</vt:lpstr>
      <vt:lpstr>The time complexity of Build heap</vt:lpstr>
      <vt:lpstr>Swap and Heapify</vt:lpstr>
      <vt:lpstr>Swap and Heapify</vt:lpstr>
      <vt:lpstr>Swap and Heapify</vt:lpstr>
      <vt:lpstr>Swap and Heapify</vt:lpstr>
      <vt:lpstr>Swap and Heapify</vt:lpstr>
      <vt:lpstr>Swap and Heapify</vt:lpstr>
      <vt:lpstr>Swap and Heapify</vt:lpstr>
      <vt:lpstr>Swap and Heapify</vt:lpstr>
      <vt:lpstr>Swap and Heapify</vt:lpstr>
      <vt:lpstr>Swap and Heapify</vt:lpstr>
      <vt:lpstr>The time complexity of Swap and Heapify</vt:lpstr>
      <vt:lpstr>The time complexity of Swap and Heapify</vt:lpstr>
      <vt:lpstr>The time complexity of Heap Sort</vt:lpstr>
      <vt:lpstr>                          Implement</vt:lpstr>
      <vt:lpstr>                          Implement</vt:lpstr>
      <vt:lpstr>                          Implement</vt:lpstr>
      <vt:lpstr>                          Implement</vt:lpstr>
      <vt:lpstr>                          Implement</vt:lpstr>
      <vt:lpstr>                          Implement</vt:lpstr>
      <vt:lpstr>                          Implement</vt:lpstr>
      <vt:lpstr>                          Implement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Heap and Heap algorithms</dc:title>
  <dc:creator/>
  <cp:lastModifiedBy>朱锦泽</cp:lastModifiedBy>
  <cp:revision>23</cp:revision>
  <dcterms:created xsi:type="dcterms:W3CDTF">2026-03-28T16:29:00Z</dcterms:created>
  <dcterms:modified xsi:type="dcterms:W3CDTF">2026-04-05T16:53:12Z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2052-12.1.0.25835</vt:lpwstr>
  </property>
  <property fmtid="{D5CDD505-2E9C-101B-9397-08002B2CF9AE}" pid="3" name="ICV">
    <vt:lpwstr>3535E943556E4493B40F2D8EE795B3D4_12</vt:lpwstr>
  </property>
</Properties>
</file>